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Montserrat"/>
      <p:bold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Quicksand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Xce2NNQXxZwxAZNQmkvcqImSd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Quicksan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17.jp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2181352" y="2362503"/>
            <a:ext cx="13579520" cy="6042886"/>
          </a:xfrm>
          <a:custGeom>
            <a:rect b="b" l="l" r="r" t="t"/>
            <a:pathLst>
              <a:path extrusionOk="0" h="6042886" w="13579520">
                <a:moveTo>
                  <a:pt x="0" y="0"/>
                </a:moveTo>
                <a:lnTo>
                  <a:pt x="13579520" y="0"/>
                </a:lnTo>
                <a:lnTo>
                  <a:pt x="13579520" y="6042886"/>
                </a:lnTo>
                <a:lnTo>
                  <a:pt x="0" y="6042886"/>
                </a:lnTo>
                <a:lnTo>
                  <a:pt x="0" y="0"/>
                </a:lnTo>
                <a:close/>
              </a:path>
            </a:pathLst>
          </a:custGeom>
          <a:solidFill>
            <a:srgbClr val="CFE247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838892">
            <a:off x="2937506" y="2154944"/>
            <a:ext cx="1043254" cy="982556"/>
          </a:xfrm>
          <a:custGeom>
            <a:rect b="b" l="l" r="r" t="t"/>
            <a:pathLst>
              <a:path extrusionOk="0" h="982556" w="1043254">
                <a:moveTo>
                  <a:pt x="0" y="0"/>
                </a:moveTo>
                <a:lnTo>
                  <a:pt x="1043255" y="0"/>
                </a:lnTo>
                <a:lnTo>
                  <a:pt x="1043255" y="982556"/>
                </a:lnTo>
                <a:lnTo>
                  <a:pt x="0" y="982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3554384" y="2323056"/>
            <a:ext cx="9855900" cy="6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With More Confidence </a:t>
            </a:r>
            <a:endParaRPr/>
          </a:p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7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2435176" y="6964460"/>
            <a:ext cx="3671472" cy="901179"/>
          </a:xfrm>
          <a:custGeom>
            <a:rect b="b" l="l" r="r" t="t"/>
            <a:pathLst>
              <a:path extrusionOk="0" h="901179" w="3671472">
                <a:moveTo>
                  <a:pt x="0" y="0"/>
                </a:moveTo>
                <a:lnTo>
                  <a:pt x="3671472" y="0"/>
                </a:lnTo>
                <a:lnTo>
                  <a:pt x="3671472" y="901180"/>
                </a:lnTo>
                <a:lnTo>
                  <a:pt x="0" y="901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2104911">
            <a:off x="13370625" y="2371241"/>
            <a:ext cx="1800574" cy="1143364"/>
          </a:xfrm>
          <a:custGeom>
            <a:rect b="b" l="l" r="r" t="t"/>
            <a:pathLst>
              <a:path extrusionOk="0" h="1143364" w="1800574">
                <a:moveTo>
                  <a:pt x="0" y="0"/>
                </a:moveTo>
                <a:lnTo>
                  <a:pt x="1800574" y="0"/>
                </a:lnTo>
                <a:lnTo>
                  <a:pt x="1800574" y="1143364"/>
                </a:lnTo>
                <a:lnTo>
                  <a:pt x="0" y="1143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-8100000">
            <a:off x="2900487" y="6716817"/>
            <a:ext cx="1800574" cy="1143364"/>
          </a:xfrm>
          <a:custGeom>
            <a:rect b="b" l="l" r="r" t="t"/>
            <a:pathLst>
              <a:path extrusionOk="0" h="1143364" w="1800574">
                <a:moveTo>
                  <a:pt x="0" y="0"/>
                </a:moveTo>
                <a:lnTo>
                  <a:pt x="1800573" y="0"/>
                </a:lnTo>
                <a:lnTo>
                  <a:pt x="1800573" y="1143365"/>
                </a:lnTo>
                <a:lnTo>
                  <a:pt x="0" y="114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3886775" y="7155850"/>
            <a:ext cx="91911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1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Challenges and opportunities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-1239524" y="-3566081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reflection blurRad="0" dir="5400000" dist="47625" endA="0" endPos="30000" fadeDir="5400012" kx="0" rotWithShape="0" algn="bl" stA="15000" stPos="0" sy="-100000" ky="0"/>
          </a:effectLst>
        </p:spPr>
      </p:sp>
      <p:sp>
        <p:nvSpPr>
          <p:cNvPr id="98" name="Google Shape;98;p2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9686694" y="2645556"/>
            <a:ext cx="7941440" cy="4995888"/>
          </a:xfrm>
          <a:custGeom>
            <a:rect b="b" l="l" r="r" t="t"/>
            <a:pathLst>
              <a:path extrusionOk="0" h="4995888" w="7941440">
                <a:moveTo>
                  <a:pt x="0" y="0"/>
                </a:moveTo>
                <a:lnTo>
                  <a:pt x="7941440" y="0"/>
                </a:lnTo>
                <a:lnTo>
                  <a:pt x="7941440" y="4995888"/>
                </a:lnTo>
                <a:lnTo>
                  <a:pt x="0" y="4995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8753976" y="1028700"/>
            <a:ext cx="2229447" cy="1967487"/>
          </a:xfrm>
          <a:custGeom>
            <a:rect b="b" l="l" r="r" t="t"/>
            <a:pathLst>
              <a:path extrusionOk="0" h="1967487" w="2229447">
                <a:moveTo>
                  <a:pt x="0" y="0"/>
                </a:moveTo>
                <a:lnTo>
                  <a:pt x="2229447" y="0"/>
                </a:lnTo>
                <a:lnTo>
                  <a:pt x="2229447" y="1967487"/>
                </a:lnTo>
                <a:lnTo>
                  <a:pt x="0" y="1967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1701607" y="2243799"/>
            <a:ext cx="9166164" cy="1945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 of learning communication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410989" y="4334373"/>
            <a:ext cx="8275706" cy="371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People are forgetting how to talk</a:t>
            </a:r>
            <a:endParaRPr/>
          </a:p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to listen</a:t>
            </a:r>
            <a:endParaRPr/>
          </a:p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to express themselve</a:t>
            </a:r>
            <a:endParaRPr/>
          </a:p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words to use and not to use</a:t>
            </a:r>
            <a:endParaRPr/>
          </a:p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lack the confidence to meet other people</a:t>
            </a:r>
            <a:endParaRPr/>
          </a:p>
          <a:p>
            <a:pPr indent="-324446" lvl="1" marL="6488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5"/>
              <a:buFont typeface="Arial"/>
              <a:buChar char="•"/>
            </a:pPr>
            <a:r>
              <a:rPr b="0" i="0" lang="en-US" sz="3005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 Tackle difficult situation face-to-face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11443787" y="6841221"/>
            <a:ext cx="4610356" cy="3738579"/>
          </a:xfrm>
          <a:custGeom>
            <a:rect b="b" l="l" r="r" t="t"/>
            <a:pathLst>
              <a:path extrusionOk="0" h="3738579" w="4610356">
                <a:moveTo>
                  <a:pt x="0" y="0"/>
                </a:moveTo>
                <a:lnTo>
                  <a:pt x="4610356" y="0"/>
                </a:lnTo>
                <a:lnTo>
                  <a:pt x="4610356" y="3738579"/>
                </a:lnTo>
                <a:lnTo>
                  <a:pt x="0" y="3738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7724798" y="6841221"/>
            <a:ext cx="3385114" cy="3738579"/>
          </a:xfrm>
          <a:custGeom>
            <a:rect b="b" l="l" r="r" t="t"/>
            <a:pathLst>
              <a:path extrusionOk="0" h="3738579" w="3385114">
                <a:moveTo>
                  <a:pt x="0" y="0"/>
                </a:moveTo>
                <a:lnTo>
                  <a:pt x="3385113" y="0"/>
                </a:lnTo>
                <a:lnTo>
                  <a:pt x="3385113" y="3738579"/>
                </a:lnTo>
                <a:lnTo>
                  <a:pt x="0" y="3738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2233857" y="6998926"/>
            <a:ext cx="5153430" cy="3738579"/>
          </a:xfrm>
          <a:custGeom>
            <a:rect b="b" l="l" r="r" t="t"/>
            <a:pathLst>
              <a:path extrusionOk="0" h="3738579" w="5153430">
                <a:moveTo>
                  <a:pt x="0" y="0"/>
                </a:moveTo>
                <a:lnTo>
                  <a:pt x="5153430" y="0"/>
                </a:lnTo>
                <a:lnTo>
                  <a:pt x="5153430" y="3738580"/>
                </a:lnTo>
                <a:lnTo>
                  <a:pt x="0" y="3738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-1545895" y="-1340081"/>
            <a:ext cx="4022217" cy="4114800"/>
          </a:xfrm>
          <a:custGeom>
            <a:rect b="b" l="l" r="r" t="t"/>
            <a:pathLst>
              <a:path extrusionOk="0" h="4114800" w="4022217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3545894" y="231544"/>
            <a:ext cx="11196213" cy="2211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a confident communicator? 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109157" y="2527069"/>
            <a:ext cx="15150143" cy="401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1082" lvl="1" marL="702167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2"/>
              <a:buFont typeface="Arial"/>
              <a:buChar char="•"/>
            </a:pP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Confident communicators are </a:t>
            </a:r>
            <a:r>
              <a:rPr b="0" i="0" lang="en-US" sz="3252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self-confident</a:t>
            </a: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have good self-esteem</a:t>
            </a:r>
            <a:endParaRPr/>
          </a:p>
          <a:p>
            <a:pPr indent="-351082" lvl="1" marL="702167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2"/>
              <a:buFont typeface="Arial"/>
              <a:buChar char="•"/>
            </a:pP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believe they are </a:t>
            </a:r>
            <a:r>
              <a:rPr b="0" i="0" lang="en-US" sz="3252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worth being listened</a:t>
            </a:r>
            <a:endParaRPr/>
          </a:p>
          <a:p>
            <a:pPr indent="-351082" lvl="1" marL="702167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2"/>
              <a:buFont typeface="Arial"/>
              <a:buChar char="•"/>
            </a:pP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like to hear the </a:t>
            </a:r>
            <a:r>
              <a:rPr b="0" i="0" lang="en-US" sz="3252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views and opinions</a:t>
            </a: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others</a:t>
            </a:r>
            <a:endParaRPr/>
          </a:p>
          <a:p>
            <a:pPr indent="-351082" lvl="1" marL="702167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2"/>
              <a:buFont typeface="Arial"/>
              <a:buChar char="•"/>
            </a:pP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able to both </a:t>
            </a:r>
            <a:r>
              <a:rPr b="0" i="0" lang="en-US" sz="3252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take and give </a:t>
            </a:r>
            <a:r>
              <a:rPr b="0" i="0" lang="en-US" sz="3252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criticism without feeling inadequate and hurt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-1239524" y="-3558974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79"/>
                </a:lnTo>
                <a:lnTo>
                  <a:pt x="0" y="5390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15985254" y="7200900"/>
            <a:ext cx="4022217" cy="4114800"/>
          </a:xfrm>
          <a:custGeom>
            <a:rect b="b" l="l" r="r" t="t"/>
            <a:pathLst>
              <a:path extrusionOk="0" h="4114800" w="4022217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10432406" y="440154"/>
            <a:ext cx="1741367" cy="2183532"/>
          </a:xfrm>
          <a:custGeom>
            <a:rect b="b" l="l" r="r" t="t"/>
            <a:pathLst>
              <a:path extrusionOk="0" h="2183532" w="1741367">
                <a:moveTo>
                  <a:pt x="0" y="0"/>
                </a:moveTo>
                <a:lnTo>
                  <a:pt x="1741367" y="0"/>
                </a:lnTo>
                <a:lnTo>
                  <a:pt x="1741367" y="2183532"/>
                </a:lnTo>
                <a:lnTo>
                  <a:pt x="0" y="2183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9843318" y="2623686"/>
            <a:ext cx="6631089" cy="5039628"/>
          </a:xfrm>
          <a:custGeom>
            <a:rect b="b" l="l" r="r" t="t"/>
            <a:pathLst>
              <a:path extrusionOk="0" h="5039628" w="6631089">
                <a:moveTo>
                  <a:pt x="0" y="0"/>
                </a:moveTo>
                <a:lnTo>
                  <a:pt x="6631090" y="0"/>
                </a:lnTo>
                <a:lnTo>
                  <a:pt x="6631090" y="5039628"/>
                </a:lnTo>
                <a:lnTo>
                  <a:pt x="0" y="5039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1243618" y="1879784"/>
            <a:ext cx="11683319" cy="213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confident communication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243618" y="4324848"/>
            <a:ext cx="8599701" cy="3972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the Workplace:</a:t>
            </a:r>
            <a:endParaRPr/>
          </a:p>
          <a:p>
            <a:pPr indent="-345437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Increased productivity</a:t>
            </a:r>
            <a:endParaRPr/>
          </a:p>
          <a:p>
            <a:pPr indent="-345437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Better team working</a:t>
            </a:r>
            <a:endParaRPr/>
          </a:p>
          <a:p>
            <a:pPr indent="-345437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Fewer mistakes and therefore more cost saving</a:t>
            </a:r>
            <a:endParaRPr/>
          </a:p>
          <a:p>
            <a:pPr indent="-345437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Less stress and conflict</a:t>
            </a:r>
            <a:endParaRPr/>
          </a:p>
          <a:p>
            <a:pPr indent="-345437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Better motivation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-1239524" y="-3558974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79"/>
                </a:lnTo>
                <a:lnTo>
                  <a:pt x="0" y="5390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3" name="Google Shape;133;p5"/>
          <p:cNvGrpSpPr/>
          <p:nvPr/>
        </p:nvGrpSpPr>
        <p:grpSpPr>
          <a:xfrm>
            <a:off x="1575507" y="2673649"/>
            <a:ext cx="7568493" cy="4939703"/>
            <a:chOff x="0" y="0"/>
            <a:chExt cx="19050000" cy="12433300"/>
          </a:xfrm>
        </p:grpSpPr>
        <p:sp>
          <p:nvSpPr>
            <p:cNvPr id="134" name="Google Shape;134;p5"/>
            <p:cNvSpPr/>
            <p:nvPr/>
          </p:nvSpPr>
          <p:spPr>
            <a:xfrm>
              <a:off x="1452880" y="587121"/>
              <a:ext cx="16166846" cy="10116185"/>
            </a:xfrm>
            <a:custGeom>
              <a:rect b="b" l="l" r="r" t="t"/>
              <a:pathLst>
                <a:path extrusionOk="0"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235" l="0" r="0" t="-3236"/>
              </a:stretch>
            </a:blipFill>
            <a:ln>
              <a:noFill/>
            </a:ln>
          </p:spPr>
        </p:sp>
        <p:sp>
          <p:nvSpPr>
            <p:cNvPr id="135" name="Google Shape;135;p5"/>
            <p:cNvSpPr/>
            <p:nvPr/>
          </p:nvSpPr>
          <p:spPr>
            <a:xfrm>
              <a:off x="0" y="0"/>
              <a:ext cx="19050000" cy="12433300"/>
            </a:xfrm>
            <a:custGeom>
              <a:rect b="b" l="l" r="r" t="t"/>
              <a:pathLst>
                <a:path extrusionOk="0"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-300" r="-300" t="0"/>
              </a:stretch>
            </a:blipFill>
            <a:ln>
              <a:noFill/>
            </a:ln>
          </p:spPr>
        </p:sp>
      </p:grpSp>
      <p:sp>
        <p:nvSpPr>
          <p:cNvPr id="136" name="Google Shape;136;p5"/>
          <p:cNvSpPr txBox="1"/>
          <p:nvPr/>
        </p:nvSpPr>
        <p:spPr>
          <a:xfrm>
            <a:off x="9144000" y="2098638"/>
            <a:ext cx="8826931" cy="1911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you improve your communiction skills?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9144000" y="4324848"/>
            <a:ext cx="8826931" cy="252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only way to improve communication is to </a:t>
            </a:r>
            <a:r>
              <a:rPr b="0" i="0" lang="en-US" sz="3600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 the way you feel, think and act.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5"/>
          <p:cNvSpPr/>
          <p:nvPr/>
        </p:nvSpPr>
        <p:spPr>
          <a:xfrm rot="2546313">
            <a:off x="15277900" y="-374178"/>
            <a:ext cx="4188155" cy="2619500"/>
          </a:xfrm>
          <a:custGeom>
            <a:rect b="b" l="l" r="r" t="t"/>
            <a:pathLst>
              <a:path extrusionOk="0" h="2619500" w="4188155">
                <a:moveTo>
                  <a:pt x="0" y="0"/>
                </a:moveTo>
                <a:lnTo>
                  <a:pt x="4188155" y="0"/>
                </a:lnTo>
                <a:lnTo>
                  <a:pt x="4188155" y="2619500"/>
                </a:lnTo>
                <a:lnTo>
                  <a:pt x="0" y="2619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 rot="2546313">
            <a:off x="-1065377" y="8172453"/>
            <a:ext cx="4188155" cy="2619500"/>
          </a:xfrm>
          <a:custGeom>
            <a:rect b="b" l="l" r="r" t="t"/>
            <a:pathLst>
              <a:path extrusionOk="0" h="2619500" w="4188155">
                <a:moveTo>
                  <a:pt x="0" y="0"/>
                </a:moveTo>
                <a:lnTo>
                  <a:pt x="4188154" y="0"/>
                </a:lnTo>
                <a:lnTo>
                  <a:pt x="4188154" y="2619500"/>
                </a:lnTo>
                <a:lnTo>
                  <a:pt x="0" y="2619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145" name="Google Shape;145;p6"/>
          <p:cNvSpPr/>
          <p:nvPr/>
        </p:nvSpPr>
        <p:spPr>
          <a:xfrm>
            <a:off x="-1239524" y="-3558974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79"/>
                </a:lnTo>
                <a:lnTo>
                  <a:pt x="0" y="5390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0312641" y="2438412"/>
            <a:ext cx="5470179" cy="5410504"/>
          </a:xfrm>
          <a:custGeom>
            <a:rect b="b" l="l" r="r" t="t"/>
            <a:pathLst>
              <a:path extrusionOk="0" h="5410504" w="5470179">
                <a:moveTo>
                  <a:pt x="0" y="0"/>
                </a:moveTo>
                <a:lnTo>
                  <a:pt x="5470179" y="0"/>
                </a:lnTo>
                <a:lnTo>
                  <a:pt x="5470179" y="5410504"/>
                </a:lnTo>
                <a:lnTo>
                  <a:pt x="0" y="5410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15985254" y="7200900"/>
            <a:ext cx="4022217" cy="4114800"/>
          </a:xfrm>
          <a:custGeom>
            <a:rect b="b" l="l" r="r" t="t"/>
            <a:pathLst>
              <a:path extrusionOk="0" h="4114800" w="4022217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6"/>
          <p:cNvSpPr/>
          <p:nvPr/>
        </p:nvSpPr>
        <p:spPr>
          <a:xfrm>
            <a:off x="9144000" y="1028700"/>
            <a:ext cx="1741367" cy="2183532"/>
          </a:xfrm>
          <a:custGeom>
            <a:rect b="b" l="l" r="r" t="t"/>
            <a:pathLst>
              <a:path extrusionOk="0" h="2183532" w="1741367">
                <a:moveTo>
                  <a:pt x="0" y="0"/>
                </a:moveTo>
                <a:lnTo>
                  <a:pt x="1741367" y="0"/>
                </a:lnTo>
                <a:lnTo>
                  <a:pt x="1741367" y="2183532"/>
                </a:lnTo>
                <a:lnTo>
                  <a:pt x="0" y="2183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790986" y="1303461"/>
            <a:ext cx="8871398" cy="1908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order to communicate confidently you need to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33693" y="3533148"/>
            <a:ext cx="8985983" cy="636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Mature open minded personality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Ask the right questions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Listen effectively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Read and interpret body language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 what is being said behind the words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the right words</a:t>
            </a:r>
            <a:endParaRPr/>
          </a:p>
          <a:p>
            <a:pPr indent="-304310" lvl="1" marL="60862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9"/>
              <a:buFont typeface="Arial"/>
              <a:buChar char="•"/>
            </a:pPr>
            <a:r>
              <a:rPr b="0" i="0" lang="en-US" sz="28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Self-confidence</a:t>
            </a:r>
            <a:endParaRPr/>
          </a:p>
          <a:p>
            <a:pPr indent="-315106" lvl="1" marL="630212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19"/>
              <a:buFont typeface="Arial"/>
              <a:buChar char="•"/>
            </a:pPr>
            <a:r>
              <a:rPr b="0" i="0" lang="en-US" sz="291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Genuine interest in the other people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-1239524" y="-3558974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79"/>
                </a:lnTo>
                <a:lnTo>
                  <a:pt x="0" y="5390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7"/>
          <p:cNvSpPr/>
          <p:nvPr/>
        </p:nvSpPr>
        <p:spPr>
          <a:xfrm>
            <a:off x="15985254" y="7200900"/>
            <a:ext cx="4022217" cy="4114800"/>
          </a:xfrm>
          <a:custGeom>
            <a:rect b="b" l="l" r="r" t="t"/>
            <a:pathLst>
              <a:path extrusionOk="0" h="4114800" w="4022217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8273317" y="1276186"/>
            <a:ext cx="1741367" cy="2183532"/>
          </a:xfrm>
          <a:custGeom>
            <a:rect b="b" l="l" r="r" t="t"/>
            <a:pathLst>
              <a:path extrusionOk="0" h="2183532" w="1741367">
                <a:moveTo>
                  <a:pt x="0" y="0"/>
                </a:moveTo>
                <a:lnTo>
                  <a:pt x="1741366" y="0"/>
                </a:lnTo>
                <a:lnTo>
                  <a:pt x="1741366" y="2183532"/>
                </a:lnTo>
                <a:lnTo>
                  <a:pt x="0" y="2183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/>
          <p:nvPr/>
        </p:nvSpPr>
        <p:spPr>
          <a:xfrm>
            <a:off x="11037744" y="2145603"/>
            <a:ext cx="4947510" cy="5995795"/>
          </a:xfrm>
          <a:custGeom>
            <a:rect b="b" l="l" r="r" t="t"/>
            <a:pathLst>
              <a:path extrusionOk="0" h="5995795" w="4947510">
                <a:moveTo>
                  <a:pt x="0" y="0"/>
                </a:moveTo>
                <a:lnTo>
                  <a:pt x="4947510" y="0"/>
                </a:lnTo>
                <a:lnTo>
                  <a:pt x="4947510" y="5995794"/>
                </a:lnTo>
                <a:lnTo>
                  <a:pt x="0" y="599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1148457" y="2234602"/>
            <a:ext cx="7702757" cy="1153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Confidence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028700" y="3873498"/>
            <a:ext cx="9603214" cy="4741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4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Acting more confidently</a:t>
            </a:r>
            <a:r>
              <a:rPr b="0" i="0" lang="en-US" sz="270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begins with thinking more confidently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4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Your brain is a very powerful organ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sends messages people through you </a:t>
            </a:r>
            <a:r>
              <a:rPr b="0" i="0" lang="en-US" sz="2704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body language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4" u="none" cap="none" strike="noStrike">
              <a:solidFill>
                <a:srgbClr val="FF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you think that your </a:t>
            </a:r>
            <a:r>
              <a:rPr b="0" i="0" lang="en-US" sz="2704" u="none" cap="none" strike="noStrike">
                <a:solidFill>
                  <a:srgbClr val="FF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point of view is useless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Then this will be relayed to other people through your body language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4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8"/>
          <p:cNvCxnSpPr/>
          <p:nvPr/>
        </p:nvCxnSpPr>
        <p:spPr>
          <a:xfrm>
            <a:off x="-886757" y="3501879"/>
            <a:ext cx="2006151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" name="Google Shape;169;p8"/>
          <p:cNvGrpSpPr/>
          <p:nvPr/>
        </p:nvGrpSpPr>
        <p:grpSpPr>
          <a:xfrm>
            <a:off x="14993695" y="3250851"/>
            <a:ext cx="502056" cy="502056"/>
            <a:chOff x="0" y="0"/>
            <a:chExt cx="812800" cy="812800"/>
          </a:xfrm>
        </p:grpSpPr>
        <p:sp>
          <p:nvSpPr>
            <p:cNvPr id="170" name="Google Shape;170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171" name="Google Shape;171;p8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8"/>
          <p:cNvGrpSpPr/>
          <p:nvPr/>
        </p:nvGrpSpPr>
        <p:grpSpPr>
          <a:xfrm>
            <a:off x="10339898" y="3250851"/>
            <a:ext cx="502056" cy="502056"/>
            <a:chOff x="0" y="0"/>
            <a:chExt cx="812800" cy="812800"/>
          </a:xfrm>
        </p:grpSpPr>
        <p:sp>
          <p:nvSpPr>
            <p:cNvPr id="173" name="Google Shape;173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174" name="Google Shape;174;p8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5684299" y="3250851"/>
            <a:ext cx="502056" cy="502056"/>
            <a:chOff x="0" y="0"/>
            <a:chExt cx="812800" cy="812800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177" name="Google Shape;177;p8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8"/>
          <p:cNvGrpSpPr/>
          <p:nvPr/>
        </p:nvGrpSpPr>
        <p:grpSpPr>
          <a:xfrm>
            <a:off x="1028700" y="3250851"/>
            <a:ext cx="502056" cy="502056"/>
            <a:chOff x="0" y="0"/>
            <a:chExt cx="812800" cy="812800"/>
          </a:xfrm>
        </p:grpSpPr>
        <p:sp>
          <p:nvSpPr>
            <p:cNvPr id="179" name="Google Shape;179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180" name="Google Shape;180;p8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8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8"/>
          <p:cNvSpPr/>
          <p:nvPr/>
        </p:nvSpPr>
        <p:spPr>
          <a:xfrm>
            <a:off x="4968354" y="1605421"/>
            <a:ext cx="4673902" cy="1359680"/>
          </a:xfrm>
          <a:custGeom>
            <a:rect b="b" l="l" r="r" t="t"/>
            <a:pathLst>
              <a:path extrusionOk="0" h="1359680" w="4673902">
                <a:moveTo>
                  <a:pt x="0" y="0"/>
                </a:moveTo>
                <a:lnTo>
                  <a:pt x="4673901" y="0"/>
                </a:lnTo>
                <a:lnTo>
                  <a:pt x="4673901" y="1359680"/>
                </a:lnTo>
                <a:lnTo>
                  <a:pt x="0" y="1359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8"/>
          <p:cNvSpPr txBox="1"/>
          <p:nvPr/>
        </p:nvSpPr>
        <p:spPr>
          <a:xfrm>
            <a:off x="3226023" y="754039"/>
            <a:ext cx="11196213" cy="2211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Understand Client Personality Types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1028700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Type-A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5702602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Type-B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10376503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Type-C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4993695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Type-D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474695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Dominance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265664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Social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9642255" y="4852983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Measured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14188101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Compliant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2991888" y="7031345"/>
            <a:ext cx="11196213" cy="2800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client personality enhances communication and relationship.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9"/>
          <p:cNvCxnSpPr/>
          <p:nvPr/>
        </p:nvCxnSpPr>
        <p:spPr>
          <a:xfrm>
            <a:off x="-886757" y="3501879"/>
            <a:ext cx="2006151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8" name="Google Shape;198;p9"/>
          <p:cNvGrpSpPr/>
          <p:nvPr/>
        </p:nvGrpSpPr>
        <p:grpSpPr>
          <a:xfrm>
            <a:off x="1028700" y="3250851"/>
            <a:ext cx="502056" cy="502056"/>
            <a:chOff x="0" y="0"/>
            <a:chExt cx="812800" cy="812800"/>
          </a:xfrm>
        </p:grpSpPr>
        <p:sp>
          <p:nvSpPr>
            <p:cNvPr id="199" name="Google Shape;199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200" name="Google Shape;200;p9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9"/>
          <p:cNvSpPr/>
          <p:nvPr/>
        </p:nvSpPr>
        <p:spPr>
          <a:xfrm rot="10800000">
            <a:off x="-1629548" y="9082219"/>
            <a:ext cx="20767048" cy="4764084"/>
          </a:xfrm>
          <a:custGeom>
            <a:rect b="b" l="l" r="r" t="t"/>
            <a:pathLst>
              <a:path extrusionOk="0" h="4764084" w="20767048">
                <a:moveTo>
                  <a:pt x="0" y="0"/>
                </a:moveTo>
                <a:lnTo>
                  <a:pt x="20767048" y="0"/>
                </a:lnTo>
                <a:lnTo>
                  <a:pt x="20767048" y="4764084"/>
                </a:lnTo>
                <a:lnTo>
                  <a:pt x="0" y="476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152" l="0" r="0" t="0"/>
            </a:stretch>
          </a:blipFill>
          <a:ln>
            <a:noFill/>
          </a:ln>
        </p:spPr>
      </p:sp>
      <p:sp>
        <p:nvSpPr>
          <p:cNvPr id="202" name="Google Shape;202;p9"/>
          <p:cNvSpPr/>
          <p:nvPr/>
        </p:nvSpPr>
        <p:spPr>
          <a:xfrm>
            <a:off x="5265664" y="1153760"/>
            <a:ext cx="4673902" cy="1359680"/>
          </a:xfrm>
          <a:custGeom>
            <a:rect b="b" l="l" r="r" t="t"/>
            <a:pathLst>
              <a:path extrusionOk="0" h="1359680" w="4673902">
                <a:moveTo>
                  <a:pt x="0" y="0"/>
                </a:moveTo>
                <a:lnTo>
                  <a:pt x="4673901" y="0"/>
                </a:lnTo>
                <a:lnTo>
                  <a:pt x="4673901" y="1359681"/>
                </a:lnTo>
                <a:lnTo>
                  <a:pt x="0" y="1359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9"/>
          <p:cNvSpPr/>
          <p:nvPr/>
        </p:nvSpPr>
        <p:spPr>
          <a:xfrm>
            <a:off x="352135" y="6038260"/>
            <a:ext cx="4557038" cy="3043959"/>
          </a:xfrm>
          <a:custGeom>
            <a:rect b="b" l="l" r="r" t="t"/>
            <a:pathLst>
              <a:path extrusionOk="0" h="3043959" w="4557038">
                <a:moveTo>
                  <a:pt x="0" y="0"/>
                </a:moveTo>
                <a:lnTo>
                  <a:pt x="4557038" y="0"/>
                </a:lnTo>
                <a:lnTo>
                  <a:pt x="4557038" y="3043959"/>
                </a:lnTo>
                <a:lnTo>
                  <a:pt x="0" y="3043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9"/>
          <p:cNvSpPr txBox="1"/>
          <p:nvPr/>
        </p:nvSpPr>
        <p:spPr>
          <a:xfrm>
            <a:off x="3545894" y="1228132"/>
            <a:ext cx="11196213" cy="113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Personality Types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1028700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Type-A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474695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Dominance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5541857" y="3629082"/>
            <a:ext cx="12457285" cy="7057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Have dominance and superiority in their make up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Impatient individuals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Confident decision makers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conscious and find it hard to relax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Have a high degree of energy, and like getting things done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good at ideas, and at problem solving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7" u="none" cap="none" strike="noStrike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Their influencing style -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Tough battler, pressing for results, giving orders, issuing challenges.</a:t>
            </a:r>
            <a:endParaRPr/>
          </a:p>
          <a:p>
            <a:pPr indent="0" lvl="0" marL="0" marR="0" rtl="0" algn="l">
              <a:lnSpc>
                <a:spcPct val="10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213" name="Google Shape;213;p10"/>
          <p:cNvSpPr/>
          <p:nvPr/>
        </p:nvSpPr>
        <p:spPr>
          <a:xfrm>
            <a:off x="3373777" y="1268437"/>
            <a:ext cx="11540446" cy="5135498"/>
          </a:xfrm>
          <a:custGeom>
            <a:rect b="b" l="l" r="r" t="t"/>
            <a:pathLst>
              <a:path extrusionOk="0" h="5135498" w="11540446">
                <a:moveTo>
                  <a:pt x="0" y="0"/>
                </a:moveTo>
                <a:lnTo>
                  <a:pt x="11540446" y="0"/>
                </a:lnTo>
                <a:lnTo>
                  <a:pt x="11540446" y="5135498"/>
                </a:lnTo>
                <a:lnTo>
                  <a:pt x="0" y="5135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0"/>
          <p:cNvSpPr txBox="1"/>
          <p:nvPr/>
        </p:nvSpPr>
        <p:spPr>
          <a:xfrm>
            <a:off x="4626675" y="2949121"/>
            <a:ext cx="9034650" cy="148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Manage a </a:t>
            </a:r>
            <a:r>
              <a:rPr b="1" i="0" lang="en-US" sz="5600" u="none" cap="none" strike="noStrike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Type-A</a:t>
            </a: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Personality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 rot="135782">
            <a:off x="12301038" y="1696071"/>
            <a:ext cx="1307816" cy="1451114"/>
          </a:xfrm>
          <a:custGeom>
            <a:rect b="b" l="l" r="r" t="t"/>
            <a:pathLst>
              <a:path extrusionOk="0" h="1451114" w="1307816">
                <a:moveTo>
                  <a:pt x="0" y="0"/>
                </a:moveTo>
                <a:lnTo>
                  <a:pt x="1307817" y="0"/>
                </a:lnTo>
                <a:lnTo>
                  <a:pt x="1307817" y="1451114"/>
                </a:lnTo>
                <a:lnTo>
                  <a:pt x="0" y="145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0"/>
          <p:cNvSpPr/>
          <p:nvPr/>
        </p:nvSpPr>
        <p:spPr>
          <a:xfrm rot="-10324902">
            <a:off x="2778253" y="4360301"/>
            <a:ext cx="2743691" cy="1566398"/>
          </a:xfrm>
          <a:custGeom>
            <a:rect b="b" l="l" r="r" t="t"/>
            <a:pathLst>
              <a:path extrusionOk="0" h="1566398" w="2743691">
                <a:moveTo>
                  <a:pt x="0" y="0"/>
                </a:moveTo>
                <a:lnTo>
                  <a:pt x="2743691" y="0"/>
                </a:lnTo>
                <a:lnTo>
                  <a:pt x="2743691" y="1566398"/>
                </a:lnTo>
                <a:lnTo>
                  <a:pt x="0" y="1566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0"/>
          <p:cNvSpPr/>
          <p:nvPr/>
        </p:nvSpPr>
        <p:spPr>
          <a:xfrm>
            <a:off x="9448203" y="1670816"/>
            <a:ext cx="3011750" cy="2507966"/>
          </a:xfrm>
          <a:custGeom>
            <a:rect b="b" l="l" r="r" t="t"/>
            <a:pathLst>
              <a:path extrusionOk="0" h="2507966" w="3011750">
                <a:moveTo>
                  <a:pt x="0" y="0"/>
                </a:moveTo>
                <a:lnTo>
                  <a:pt x="3011749" y="0"/>
                </a:lnTo>
                <a:lnTo>
                  <a:pt x="3011749" y="2507966"/>
                </a:lnTo>
                <a:lnTo>
                  <a:pt x="0" y="2507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0"/>
          <p:cNvSpPr txBox="1"/>
          <p:nvPr/>
        </p:nvSpPr>
        <p:spPr>
          <a:xfrm>
            <a:off x="2471124" y="6299160"/>
            <a:ext cx="13345753" cy="3441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997" lvl="1" marL="789993" marR="0" rtl="0" algn="just">
              <a:lnSpc>
                <a:spcPct val="151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Char char="•"/>
            </a:pPr>
            <a:r>
              <a:rPr b="0" i="0" lang="en-US" sz="365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should give them short-term goals that give them a high degree of recognition and status</a:t>
            </a:r>
            <a:endParaRPr/>
          </a:p>
          <a:p>
            <a:pPr indent="-394997" lvl="1" marL="789993" marR="0" rtl="0" algn="just">
              <a:lnSpc>
                <a:spcPct val="151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Char char="•"/>
            </a:pPr>
            <a:r>
              <a:rPr b="0" i="0" lang="en-US" sz="365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Try and speed up the way you talk and execute</a:t>
            </a:r>
            <a:endParaRPr/>
          </a:p>
          <a:p>
            <a:pPr indent="-394997" lvl="1" marL="789993" marR="0" rtl="0" algn="just">
              <a:lnSpc>
                <a:spcPct val="151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Char char="•"/>
            </a:pPr>
            <a:r>
              <a:rPr b="0" i="0" lang="en-US" sz="365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 direct, get straight to the point</a:t>
            </a:r>
            <a:endParaRPr/>
          </a:p>
          <a:p>
            <a:pPr indent="-394997" lvl="1" marL="789993" marR="0" rtl="0" algn="just">
              <a:lnSpc>
                <a:spcPct val="151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Char char="•"/>
            </a:pPr>
            <a:r>
              <a:rPr b="0" i="0" lang="en-US" sz="3659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time efficiently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11"/>
          <p:cNvCxnSpPr/>
          <p:nvPr/>
        </p:nvCxnSpPr>
        <p:spPr>
          <a:xfrm>
            <a:off x="-886757" y="3501879"/>
            <a:ext cx="2006151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p11"/>
          <p:cNvGrpSpPr/>
          <p:nvPr/>
        </p:nvGrpSpPr>
        <p:grpSpPr>
          <a:xfrm>
            <a:off x="1028700" y="3250851"/>
            <a:ext cx="502056" cy="502056"/>
            <a:chOff x="0" y="0"/>
            <a:chExt cx="812800" cy="812800"/>
          </a:xfrm>
        </p:grpSpPr>
        <p:sp>
          <p:nvSpPr>
            <p:cNvPr id="225" name="Google Shape;225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226" name="Google Shape;226;p11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1"/>
          <p:cNvSpPr/>
          <p:nvPr/>
        </p:nvSpPr>
        <p:spPr>
          <a:xfrm rot="10800000">
            <a:off x="-1629548" y="8455523"/>
            <a:ext cx="20767048" cy="5390780"/>
          </a:xfrm>
          <a:custGeom>
            <a:rect b="b" l="l" r="r" t="t"/>
            <a:pathLst>
              <a:path extrusionOk="0" h="5390780" w="20767048">
                <a:moveTo>
                  <a:pt x="0" y="0"/>
                </a:moveTo>
                <a:lnTo>
                  <a:pt x="20767048" y="0"/>
                </a:lnTo>
                <a:lnTo>
                  <a:pt x="20767048" y="5390780"/>
                </a:lnTo>
                <a:lnTo>
                  <a:pt x="0" y="539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1"/>
          <p:cNvSpPr/>
          <p:nvPr/>
        </p:nvSpPr>
        <p:spPr>
          <a:xfrm>
            <a:off x="5265664" y="1153760"/>
            <a:ext cx="4673902" cy="1359680"/>
          </a:xfrm>
          <a:custGeom>
            <a:rect b="b" l="l" r="r" t="t"/>
            <a:pathLst>
              <a:path extrusionOk="0" h="1359680" w="4673902">
                <a:moveTo>
                  <a:pt x="0" y="0"/>
                </a:moveTo>
                <a:lnTo>
                  <a:pt x="4673901" y="0"/>
                </a:lnTo>
                <a:lnTo>
                  <a:pt x="4673901" y="1359681"/>
                </a:lnTo>
                <a:lnTo>
                  <a:pt x="0" y="1359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1"/>
          <p:cNvSpPr txBox="1"/>
          <p:nvPr/>
        </p:nvSpPr>
        <p:spPr>
          <a:xfrm>
            <a:off x="5682777" y="3664786"/>
            <a:ext cx="12351581" cy="718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Likes people </a:t>
            </a:r>
            <a:endParaRPr/>
          </a:p>
          <a:p>
            <a:pPr indent="-345439" lvl="1" marL="690881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adaptable, flexible and participative</a:t>
            </a:r>
            <a:endParaRPr/>
          </a:p>
          <a:p>
            <a:pPr indent="-345439" lvl="1" marL="690881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enthusiastic, embracing</a:t>
            </a:r>
            <a:endParaRPr/>
          </a:p>
          <a:p>
            <a:pPr indent="-345439" lvl="1" marL="690881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Come up with lots of ideas</a:t>
            </a:r>
            <a:endParaRPr/>
          </a:p>
          <a:p>
            <a:pPr indent="-345439" lvl="1" marL="690881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not afraid of change</a:t>
            </a:r>
            <a:endParaRPr/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Their influencing style -</a:t>
            </a:r>
            <a:endParaRPr/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Friendly helper, showing concern</a:t>
            </a:r>
            <a:endParaRPr/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Try to influence by appealing to others emotions</a:t>
            </a:r>
            <a:endParaRPr/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58128" y="5873540"/>
            <a:ext cx="3104255" cy="3384760"/>
          </a:xfrm>
          <a:custGeom>
            <a:rect b="b" l="l" r="r" t="t"/>
            <a:pathLst>
              <a:path extrusionOk="0" h="3384760" w="3104255">
                <a:moveTo>
                  <a:pt x="0" y="0"/>
                </a:moveTo>
                <a:lnTo>
                  <a:pt x="3104256" y="0"/>
                </a:lnTo>
                <a:lnTo>
                  <a:pt x="3104256" y="3384760"/>
                </a:lnTo>
                <a:lnTo>
                  <a:pt x="0" y="3384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1"/>
          <p:cNvSpPr txBox="1"/>
          <p:nvPr/>
        </p:nvSpPr>
        <p:spPr>
          <a:xfrm>
            <a:off x="3545894" y="1228132"/>
            <a:ext cx="11196213" cy="113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Personality Types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1028700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Type-B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1028700" y="4852983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Social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239" name="Google Shape;239;p12"/>
          <p:cNvSpPr/>
          <p:nvPr/>
        </p:nvSpPr>
        <p:spPr>
          <a:xfrm>
            <a:off x="3373777" y="1268437"/>
            <a:ext cx="11540446" cy="5135498"/>
          </a:xfrm>
          <a:custGeom>
            <a:rect b="b" l="l" r="r" t="t"/>
            <a:pathLst>
              <a:path extrusionOk="0" h="5135498" w="11540446">
                <a:moveTo>
                  <a:pt x="0" y="0"/>
                </a:moveTo>
                <a:lnTo>
                  <a:pt x="11540446" y="0"/>
                </a:lnTo>
                <a:lnTo>
                  <a:pt x="11540446" y="5135498"/>
                </a:lnTo>
                <a:lnTo>
                  <a:pt x="0" y="5135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2"/>
          <p:cNvSpPr txBox="1"/>
          <p:nvPr/>
        </p:nvSpPr>
        <p:spPr>
          <a:xfrm>
            <a:off x="4626675" y="2949121"/>
            <a:ext cx="9034650" cy="148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Manage a </a:t>
            </a:r>
            <a:r>
              <a:rPr b="1" i="0" lang="en-US" sz="5600" u="none" cap="none" strike="noStrike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Type-B</a:t>
            </a: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Personality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 rot="135782">
            <a:off x="12301038" y="1696071"/>
            <a:ext cx="1307816" cy="1451114"/>
          </a:xfrm>
          <a:custGeom>
            <a:rect b="b" l="l" r="r" t="t"/>
            <a:pathLst>
              <a:path extrusionOk="0" h="1451114" w="1307816">
                <a:moveTo>
                  <a:pt x="0" y="0"/>
                </a:moveTo>
                <a:lnTo>
                  <a:pt x="1307817" y="0"/>
                </a:lnTo>
                <a:lnTo>
                  <a:pt x="1307817" y="1451114"/>
                </a:lnTo>
                <a:lnTo>
                  <a:pt x="0" y="145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2"/>
          <p:cNvSpPr/>
          <p:nvPr/>
        </p:nvSpPr>
        <p:spPr>
          <a:xfrm rot="-10324902">
            <a:off x="2778253" y="4360301"/>
            <a:ext cx="2743691" cy="1566398"/>
          </a:xfrm>
          <a:custGeom>
            <a:rect b="b" l="l" r="r" t="t"/>
            <a:pathLst>
              <a:path extrusionOk="0" h="1566398" w="2743691">
                <a:moveTo>
                  <a:pt x="0" y="0"/>
                </a:moveTo>
                <a:lnTo>
                  <a:pt x="2743691" y="0"/>
                </a:lnTo>
                <a:lnTo>
                  <a:pt x="2743691" y="1566398"/>
                </a:lnTo>
                <a:lnTo>
                  <a:pt x="0" y="1566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2"/>
          <p:cNvSpPr/>
          <p:nvPr/>
        </p:nvSpPr>
        <p:spPr>
          <a:xfrm>
            <a:off x="9448203" y="1670816"/>
            <a:ext cx="3011750" cy="2507966"/>
          </a:xfrm>
          <a:custGeom>
            <a:rect b="b" l="l" r="r" t="t"/>
            <a:pathLst>
              <a:path extrusionOk="0" h="2507966" w="3011750">
                <a:moveTo>
                  <a:pt x="0" y="0"/>
                </a:moveTo>
                <a:lnTo>
                  <a:pt x="3011749" y="0"/>
                </a:lnTo>
                <a:lnTo>
                  <a:pt x="3011749" y="2507966"/>
                </a:lnTo>
                <a:lnTo>
                  <a:pt x="0" y="2507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2"/>
          <p:cNvSpPr txBox="1"/>
          <p:nvPr/>
        </p:nvSpPr>
        <p:spPr>
          <a:xfrm>
            <a:off x="3140492" y="6959004"/>
            <a:ext cx="14788176" cy="1494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7688" lvl="1" marL="875377" marR="0" rtl="0" algn="just">
              <a:lnSpc>
                <a:spcPct val="151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4"/>
              <a:buFont typeface="Arial"/>
              <a:buChar char="•"/>
            </a:pPr>
            <a:r>
              <a:rPr b="0" i="0" lang="en-US" sz="40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Give them short to medium-term goals</a:t>
            </a:r>
            <a:endParaRPr/>
          </a:p>
          <a:p>
            <a:pPr indent="-437688" lvl="1" marL="875377" marR="0" rtl="0" algn="just">
              <a:lnSpc>
                <a:spcPct val="151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4"/>
              <a:buFont typeface="Arial"/>
              <a:buChar char="•"/>
            </a:pPr>
            <a:r>
              <a:rPr b="0" i="0" lang="en-US" sz="40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Consistent management approach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3"/>
          <p:cNvCxnSpPr/>
          <p:nvPr/>
        </p:nvCxnSpPr>
        <p:spPr>
          <a:xfrm>
            <a:off x="-886757" y="3501879"/>
            <a:ext cx="2006151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13"/>
          <p:cNvGrpSpPr/>
          <p:nvPr/>
        </p:nvGrpSpPr>
        <p:grpSpPr>
          <a:xfrm>
            <a:off x="1028700" y="3250851"/>
            <a:ext cx="502056" cy="502056"/>
            <a:chOff x="0" y="0"/>
            <a:chExt cx="812800" cy="812800"/>
          </a:xfrm>
        </p:grpSpPr>
        <p:sp>
          <p:nvSpPr>
            <p:cNvPr id="251" name="Google Shape;25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252" name="Google Shape;252;p13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3"/>
          <p:cNvSpPr/>
          <p:nvPr/>
        </p:nvSpPr>
        <p:spPr>
          <a:xfrm rot="10800000">
            <a:off x="-1629548" y="9082219"/>
            <a:ext cx="20767048" cy="4764084"/>
          </a:xfrm>
          <a:custGeom>
            <a:rect b="b" l="l" r="r" t="t"/>
            <a:pathLst>
              <a:path extrusionOk="0" h="4764084" w="20767048">
                <a:moveTo>
                  <a:pt x="0" y="0"/>
                </a:moveTo>
                <a:lnTo>
                  <a:pt x="20767048" y="0"/>
                </a:lnTo>
                <a:lnTo>
                  <a:pt x="20767048" y="4764084"/>
                </a:lnTo>
                <a:lnTo>
                  <a:pt x="0" y="476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152" l="0" r="0" t="0"/>
            </a:stretch>
          </a:blipFill>
          <a:ln>
            <a:noFill/>
          </a:ln>
        </p:spPr>
      </p:sp>
      <p:sp>
        <p:nvSpPr>
          <p:cNvPr id="254" name="Google Shape;254;p13"/>
          <p:cNvSpPr/>
          <p:nvPr/>
        </p:nvSpPr>
        <p:spPr>
          <a:xfrm>
            <a:off x="5265664" y="1153760"/>
            <a:ext cx="4673902" cy="1359680"/>
          </a:xfrm>
          <a:custGeom>
            <a:rect b="b" l="l" r="r" t="t"/>
            <a:pathLst>
              <a:path extrusionOk="0" h="1359680" w="4673902">
                <a:moveTo>
                  <a:pt x="0" y="0"/>
                </a:moveTo>
                <a:lnTo>
                  <a:pt x="4673901" y="0"/>
                </a:lnTo>
                <a:lnTo>
                  <a:pt x="4673901" y="1359681"/>
                </a:lnTo>
                <a:lnTo>
                  <a:pt x="0" y="1359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3"/>
          <p:cNvSpPr txBox="1"/>
          <p:nvPr/>
        </p:nvSpPr>
        <p:spPr>
          <a:xfrm>
            <a:off x="5541857" y="3629082"/>
            <a:ext cx="12457285" cy="661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Measured and far more logical and analytical 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Steady, often security minded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Don't like a lot of change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Suspicious and skeptical of new ideas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consistent, caring and patient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don’t like taking risks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are generally warm hearted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7" u="none" cap="none" strike="noStrike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Their influencing style -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 on logic and facts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Fairness</a:t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474695" y="5800135"/>
            <a:ext cx="3071199" cy="3800609"/>
          </a:xfrm>
          <a:custGeom>
            <a:rect b="b" l="l" r="r" t="t"/>
            <a:pathLst>
              <a:path extrusionOk="0" h="3800609" w="3071199">
                <a:moveTo>
                  <a:pt x="0" y="0"/>
                </a:moveTo>
                <a:lnTo>
                  <a:pt x="3071199" y="0"/>
                </a:lnTo>
                <a:lnTo>
                  <a:pt x="3071199" y="3800608"/>
                </a:lnTo>
                <a:lnTo>
                  <a:pt x="0" y="3800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3"/>
          <p:cNvSpPr txBox="1"/>
          <p:nvPr/>
        </p:nvSpPr>
        <p:spPr>
          <a:xfrm>
            <a:off x="3545894" y="1228132"/>
            <a:ext cx="11196213" cy="113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Personality Types</a:t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1028700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Type-C</a:t>
            </a:r>
            <a:endParaRPr/>
          </a:p>
        </p:txBody>
      </p:sp>
      <p:sp>
        <p:nvSpPr>
          <p:cNvPr id="259" name="Google Shape;259;p13"/>
          <p:cNvSpPr txBox="1"/>
          <p:nvPr/>
        </p:nvSpPr>
        <p:spPr>
          <a:xfrm>
            <a:off x="474695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265" name="Google Shape;265;p14"/>
          <p:cNvSpPr/>
          <p:nvPr/>
        </p:nvSpPr>
        <p:spPr>
          <a:xfrm>
            <a:off x="3373777" y="1268437"/>
            <a:ext cx="11540446" cy="5135498"/>
          </a:xfrm>
          <a:custGeom>
            <a:rect b="b" l="l" r="r" t="t"/>
            <a:pathLst>
              <a:path extrusionOk="0" h="5135498" w="11540446">
                <a:moveTo>
                  <a:pt x="0" y="0"/>
                </a:moveTo>
                <a:lnTo>
                  <a:pt x="11540446" y="0"/>
                </a:lnTo>
                <a:lnTo>
                  <a:pt x="11540446" y="5135498"/>
                </a:lnTo>
                <a:lnTo>
                  <a:pt x="0" y="5135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4"/>
          <p:cNvSpPr txBox="1"/>
          <p:nvPr/>
        </p:nvSpPr>
        <p:spPr>
          <a:xfrm>
            <a:off x="4626675" y="2949121"/>
            <a:ext cx="9034650" cy="148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Manage a </a:t>
            </a:r>
            <a:r>
              <a:rPr b="1" i="0" lang="en-US" sz="5600" u="none" cap="none" strike="noStrike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Type-C</a:t>
            </a: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Personality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 rot="135782">
            <a:off x="12301038" y="1696071"/>
            <a:ext cx="1307816" cy="1451114"/>
          </a:xfrm>
          <a:custGeom>
            <a:rect b="b" l="l" r="r" t="t"/>
            <a:pathLst>
              <a:path extrusionOk="0" h="1451114" w="1307816">
                <a:moveTo>
                  <a:pt x="0" y="0"/>
                </a:moveTo>
                <a:lnTo>
                  <a:pt x="1307817" y="0"/>
                </a:lnTo>
                <a:lnTo>
                  <a:pt x="1307817" y="1451114"/>
                </a:lnTo>
                <a:lnTo>
                  <a:pt x="0" y="145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4"/>
          <p:cNvSpPr/>
          <p:nvPr/>
        </p:nvSpPr>
        <p:spPr>
          <a:xfrm rot="-10324902">
            <a:off x="2778253" y="4360301"/>
            <a:ext cx="2743691" cy="1566398"/>
          </a:xfrm>
          <a:custGeom>
            <a:rect b="b" l="l" r="r" t="t"/>
            <a:pathLst>
              <a:path extrusionOk="0" h="1566398" w="2743691">
                <a:moveTo>
                  <a:pt x="0" y="0"/>
                </a:moveTo>
                <a:lnTo>
                  <a:pt x="2743691" y="0"/>
                </a:lnTo>
                <a:lnTo>
                  <a:pt x="2743691" y="1566398"/>
                </a:lnTo>
                <a:lnTo>
                  <a:pt x="0" y="1566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4"/>
          <p:cNvSpPr/>
          <p:nvPr/>
        </p:nvSpPr>
        <p:spPr>
          <a:xfrm>
            <a:off x="9448203" y="1670816"/>
            <a:ext cx="3011750" cy="2507966"/>
          </a:xfrm>
          <a:custGeom>
            <a:rect b="b" l="l" r="r" t="t"/>
            <a:pathLst>
              <a:path extrusionOk="0" h="2507966" w="3011750">
                <a:moveTo>
                  <a:pt x="0" y="0"/>
                </a:moveTo>
                <a:lnTo>
                  <a:pt x="3011749" y="0"/>
                </a:lnTo>
                <a:lnTo>
                  <a:pt x="3011749" y="2507966"/>
                </a:lnTo>
                <a:lnTo>
                  <a:pt x="0" y="2507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4"/>
          <p:cNvSpPr txBox="1"/>
          <p:nvPr/>
        </p:nvSpPr>
        <p:spPr>
          <a:xfrm>
            <a:off x="2999572" y="6289635"/>
            <a:ext cx="14682487" cy="338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3713" lvl="1" marL="767429" marR="0" rtl="0" algn="just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4"/>
              <a:buFont typeface="Arial"/>
              <a:buChar char="•"/>
            </a:pPr>
            <a:r>
              <a:rPr b="0" i="0" lang="en-US" sz="35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 long-term goals with careful and periodic reviews</a:t>
            </a:r>
            <a:endParaRPr/>
          </a:p>
          <a:p>
            <a:pPr indent="-383713" lvl="1" marL="767429" marR="0" rtl="0" algn="just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4"/>
              <a:buFont typeface="Arial"/>
              <a:buChar char="•"/>
            </a:pPr>
            <a:r>
              <a:rPr b="0" i="0" lang="en-US" sz="35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Prefer following assertive leaders (lead in situation)</a:t>
            </a:r>
            <a:endParaRPr/>
          </a:p>
          <a:p>
            <a:pPr indent="-383713" lvl="1" marL="767429" marR="0" rtl="0" algn="just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4"/>
              <a:buFont typeface="Arial"/>
              <a:buChar char="•"/>
            </a:pPr>
            <a:r>
              <a:rPr b="0" i="0" lang="en-US" sz="35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introducing change it is best to do it in stages</a:t>
            </a:r>
            <a:endParaRPr/>
          </a:p>
          <a:p>
            <a:pPr indent="-383713" lvl="1" marL="767429" marR="0" rtl="0" algn="just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4"/>
              <a:buFont typeface="Arial"/>
              <a:buChar char="•"/>
            </a:pPr>
            <a:r>
              <a:rPr b="0" i="0" lang="en-US" sz="35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Doesn't like interruptions and distractions</a:t>
            </a:r>
            <a:endParaRPr/>
          </a:p>
          <a:p>
            <a:pPr indent="-372919" lvl="1" marL="745840" marR="0" rtl="0" algn="just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4"/>
              <a:buFont typeface="Arial"/>
              <a:buChar char="•"/>
            </a:pPr>
            <a:r>
              <a:rPr b="0" i="0" lang="en-US" sz="3454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need to feel they have your support and encouragement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15"/>
          <p:cNvCxnSpPr/>
          <p:nvPr/>
        </p:nvCxnSpPr>
        <p:spPr>
          <a:xfrm>
            <a:off x="-886757" y="3501879"/>
            <a:ext cx="2006151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6" name="Google Shape;276;p15"/>
          <p:cNvGrpSpPr/>
          <p:nvPr/>
        </p:nvGrpSpPr>
        <p:grpSpPr>
          <a:xfrm>
            <a:off x="1028700" y="3250851"/>
            <a:ext cx="502056" cy="502056"/>
            <a:chOff x="0" y="0"/>
            <a:chExt cx="812800" cy="812800"/>
          </a:xfrm>
        </p:grpSpPr>
        <p:sp>
          <p:nvSpPr>
            <p:cNvPr id="277" name="Google Shape;27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961"/>
            </a:solidFill>
            <a:ln>
              <a:noFill/>
            </a:ln>
          </p:spPr>
        </p:sp>
        <p:sp>
          <p:nvSpPr>
            <p:cNvPr id="278" name="Google Shape;278;p15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5"/>
          <p:cNvSpPr/>
          <p:nvPr/>
        </p:nvSpPr>
        <p:spPr>
          <a:xfrm rot="10800000">
            <a:off x="-1629548" y="9082219"/>
            <a:ext cx="20767048" cy="4764084"/>
          </a:xfrm>
          <a:custGeom>
            <a:rect b="b" l="l" r="r" t="t"/>
            <a:pathLst>
              <a:path extrusionOk="0" h="4764084" w="20767048">
                <a:moveTo>
                  <a:pt x="0" y="0"/>
                </a:moveTo>
                <a:lnTo>
                  <a:pt x="20767048" y="0"/>
                </a:lnTo>
                <a:lnTo>
                  <a:pt x="20767048" y="4764084"/>
                </a:lnTo>
                <a:lnTo>
                  <a:pt x="0" y="476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152" l="0" r="0" t="0"/>
            </a:stretch>
          </a:blipFill>
          <a:ln>
            <a:noFill/>
          </a:ln>
        </p:spPr>
      </p:sp>
      <p:sp>
        <p:nvSpPr>
          <p:cNvPr id="280" name="Google Shape;280;p15"/>
          <p:cNvSpPr/>
          <p:nvPr/>
        </p:nvSpPr>
        <p:spPr>
          <a:xfrm>
            <a:off x="5265664" y="1153760"/>
            <a:ext cx="4673902" cy="1359680"/>
          </a:xfrm>
          <a:custGeom>
            <a:rect b="b" l="l" r="r" t="t"/>
            <a:pathLst>
              <a:path extrusionOk="0" h="1359680" w="4673902">
                <a:moveTo>
                  <a:pt x="0" y="0"/>
                </a:moveTo>
                <a:lnTo>
                  <a:pt x="4673901" y="0"/>
                </a:lnTo>
                <a:lnTo>
                  <a:pt x="4673901" y="1359681"/>
                </a:lnTo>
                <a:lnTo>
                  <a:pt x="0" y="1359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5"/>
          <p:cNvSpPr txBox="1"/>
          <p:nvPr/>
        </p:nvSpPr>
        <p:spPr>
          <a:xfrm>
            <a:off x="5541857" y="3629082"/>
            <a:ext cx="12457285" cy="661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Comply with the rules and regulations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systematic, precise, hyperefficient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Love facts and details</a:t>
            </a:r>
            <a:endParaRPr/>
          </a:p>
          <a:p>
            <a:pPr indent="-348396" lvl="1" marL="696792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7"/>
              <a:buFont typeface="Arial"/>
              <a:buChar char="•"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Will use rules, authority and logical argument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7" u="none" cap="none" strike="noStrike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Their influencing style -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 on logic and facts often</a:t>
            </a:r>
            <a:endParaRPr/>
          </a:p>
          <a:p>
            <a:pPr indent="0" lvl="0" marL="0" marR="0" rtl="0" algn="l">
              <a:lnSpc>
                <a:spcPct val="16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have a tendency to correct errors and inaccuracies</a:t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474695" y="5800135"/>
            <a:ext cx="3071199" cy="3800609"/>
          </a:xfrm>
          <a:custGeom>
            <a:rect b="b" l="l" r="r" t="t"/>
            <a:pathLst>
              <a:path extrusionOk="0" h="3800609" w="3071199">
                <a:moveTo>
                  <a:pt x="0" y="0"/>
                </a:moveTo>
                <a:lnTo>
                  <a:pt x="3071199" y="0"/>
                </a:lnTo>
                <a:lnTo>
                  <a:pt x="3071199" y="3800608"/>
                </a:lnTo>
                <a:lnTo>
                  <a:pt x="0" y="3800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5"/>
          <p:cNvSpPr txBox="1"/>
          <p:nvPr/>
        </p:nvSpPr>
        <p:spPr>
          <a:xfrm>
            <a:off x="3545894" y="1228132"/>
            <a:ext cx="11196213" cy="113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Personality Types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1028700" y="3984303"/>
            <a:ext cx="2197323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Type-D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474695" y="4779578"/>
            <a:ext cx="3071199" cy="7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Compliant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291" name="Google Shape;291;p16"/>
          <p:cNvSpPr/>
          <p:nvPr/>
        </p:nvSpPr>
        <p:spPr>
          <a:xfrm>
            <a:off x="3373777" y="1268437"/>
            <a:ext cx="11540446" cy="5135498"/>
          </a:xfrm>
          <a:custGeom>
            <a:rect b="b" l="l" r="r" t="t"/>
            <a:pathLst>
              <a:path extrusionOk="0" h="5135498" w="11540446">
                <a:moveTo>
                  <a:pt x="0" y="0"/>
                </a:moveTo>
                <a:lnTo>
                  <a:pt x="11540446" y="0"/>
                </a:lnTo>
                <a:lnTo>
                  <a:pt x="11540446" y="5135498"/>
                </a:lnTo>
                <a:lnTo>
                  <a:pt x="0" y="5135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6"/>
          <p:cNvSpPr txBox="1"/>
          <p:nvPr/>
        </p:nvSpPr>
        <p:spPr>
          <a:xfrm>
            <a:off x="4626675" y="2949121"/>
            <a:ext cx="9034650" cy="148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Manage a </a:t>
            </a:r>
            <a:r>
              <a:rPr b="1" i="0" lang="en-US" sz="5600" u="none" cap="none" strike="noStrike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Type-D</a:t>
            </a:r>
            <a:r>
              <a:rPr b="1" i="0" lang="en-US" sz="5600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Personality</a:t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 rot="135782">
            <a:off x="12301038" y="1696071"/>
            <a:ext cx="1307816" cy="1451114"/>
          </a:xfrm>
          <a:custGeom>
            <a:rect b="b" l="l" r="r" t="t"/>
            <a:pathLst>
              <a:path extrusionOk="0" h="1451114" w="1307816">
                <a:moveTo>
                  <a:pt x="0" y="0"/>
                </a:moveTo>
                <a:lnTo>
                  <a:pt x="1307817" y="0"/>
                </a:lnTo>
                <a:lnTo>
                  <a:pt x="1307817" y="1451114"/>
                </a:lnTo>
                <a:lnTo>
                  <a:pt x="0" y="145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6"/>
          <p:cNvSpPr/>
          <p:nvPr/>
        </p:nvSpPr>
        <p:spPr>
          <a:xfrm rot="-10324902">
            <a:off x="2778253" y="4360301"/>
            <a:ext cx="2743691" cy="1566398"/>
          </a:xfrm>
          <a:custGeom>
            <a:rect b="b" l="l" r="r" t="t"/>
            <a:pathLst>
              <a:path extrusionOk="0" h="1566398" w="2743691">
                <a:moveTo>
                  <a:pt x="0" y="0"/>
                </a:moveTo>
                <a:lnTo>
                  <a:pt x="2743691" y="0"/>
                </a:lnTo>
                <a:lnTo>
                  <a:pt x="2743691" y="1566398"/>
                </a:lnTo>
                <a:lnTo>
                  <a:pt x="0" y="1566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6"/>
          <p:cNvSpPr/>
          <p:nvPr/>
        </p:nvSpPr>
        <p:spPr>
          <a:xfrm>
            <a:off x="9448203" y="1670816"/>
            <a:ext cx="3011750" cy="2507966"/>
          </a:xfrm>
          <a:custGeom>
            <a:rect b="b" l="l" r="r" t="t"/>
            <a:pathLst>
              <a:path extrusionOk="0" h="2507966" w="3011750">
                <a:moveTo>
                  <a:pt x="0" y="0"/>
                </a:moveTo>
                <a:lnTo>
                  <a:pt x="3011749" y="0"/>
                </a:lnTo>
                <a:lnTo>
                  <a:pt x="3011749" y="2507966"/>
                </a:lnTo>
                <a:lnTo>
                  <a:pt x="0" y="2507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6"/>
          <p:cNvSpPr txBox="1"/>
          <p:nvPr/>
        </p:nvSpPr>
        <p:spPr>
          <a:xfrm>
            <a:off x="3373777" y="6571800"/>
            <a:ext cx="12739187" cy="2736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1112" lvl="1" marL="782224" marR="0" rtl="0" algn="just">
              <a:lnSpc>
                <a:spcPct val="152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3"/>
              <a:buFont typeface="Arial"/>
              <a:buChar char="•"/>
            </a:pPr>
            <a:r>
              <a:rPr b="0" i="0" lang="en-US" sz="3623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like long-term goals fully negotiated</a:t>
            </a:r>
            <a:endParaRPr/>
          </a:p>
          <a:p>
            <a:pPr indent="-391112" lvl="1" marL="782224" marR="0" rtl="0" algn="just">
              <a:lnSpc>
                <a:spcPct val="152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3"/>
              <a:buFont typeface="Arial"/>
              <a:buChar char="•"/>
            </a:pPr>
            <a:r>
              <a:rPr b="0" i="0" lang="en-US" sz="3623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need a detailed brief and explanation</a:t>
            </a:r>
            <a:endParaRPr/>
          </a:p>
          <a:p>
            <a:pPr indent="-391112" lvl="1" marL="782224" marR="0" rtl="0" algn="just">
              <a:lnSpc>
                <a:spcPct val="152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3"/>
              <a:buFont typeface="Arial"/>
              <a:buChar char="•"/>
            </a:pPr>
            <a:r>
              <a:rPr b="0" i="0" lang="en-US" sz="3623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 not like taking risks</a:t>
            </a:r>
            <a:endParaRPr/>
          </a:p>
          <a:p>
            <a:pPr indent="-380109" lvl="1" marL="760219" marR="0" rtl="0" algn="just">
              <a:lnSpc>
                <a:spcPct val="152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1"/>
              <a:buFont typeface="Arial"/>
              <a:buChar char="•"/>
            </a:pPr>
            <a:r>
              <a:rPr b="0" i="0" lang="en-US" sz="3521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Concerned with quality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302" name="Google Shape;302;p17"/>
          <p:cNvSpPr txBox="1"/>
          <p:nvPr/>
        </p:nvSpPr>
        <p:spPr>
          <a:xfrm>
            <a:off x="1028700" y="1729004"/>
            <a:ext cx="6856820" cy="1196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Check list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7885520" y="338570"/>
            <a:ext cx="10081847" cy="891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Accept full responsibility for communication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Accept you cannot change another person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 aware of the values, attitudes, pressures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Keep an open mind and try and see where the other person is coming from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Get a positive inner voice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Adopt and practise giving out confident body language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Fine tune your listening skills using critical listening</a:t>
            </a:r>
            <a:endParaRPr/>
          </a:p>
          <a:p>
            <a:pPr indent="-349611" lvl="1" marL="699221" marR="0" rtl="0" algn="l">
              <a:lnSpc>
                <a:spcPct val="20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8"/>
              <a:buFont typeface="Arial"/>
              <a:buChar char="•"/>
            </a:pPr>
            <a:r>
              <a:rPr b="0" i="0" lang="en-US" sz="3238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 that not everyone is like you</a:t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-981774" y="8019186"/>
            <a:ext cx="3532195" cy="3613499"/>
          </a:xfrm>
          <a:custGeom>
            <a:rect b="b" l="l" r="r" t="t"/>
            <a:pathLst>
              <a:path extrusionOk="0" h="3613499" w="3532195">
                <a:moveTo>
                  <a:pt x="0" y="0"/>
                </a:moveTo>
                <a:lnTo>
                  <a:pt x="3532195" y="0"/>
                </a:lnTo>
                <a:lnTo>
                  <a:pt x="3532195" y="3613499"/>
                </a:lnTo>
                <a:lnTo>
                  <a:pt x="0" y="3613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7"/>
          <p:cNvSpPr/>
          <p:nvPr/>
        </p:nvSpPr>
        <p:spPr>
          <a:xfrm flipH="1" rot="10682523">
            <a:off x="4230111" y="4891639"/>
            <a:ext cx="2471106" cy="1410777"/>
          </a:xfrm>
          <a:custGeom>
            <a:rect b="b" l="l" r="r" t="t"/>
            <a:pathLst>
              <a:path extrusionOk="0" h="1410777" w="2471106">
                <a:moveTo>
                  <a:pt x="2471106" y="0"/>
                </a:moveTo>
                <a:lnTo>
                  <a:pt x="0" y="0"/>
                </a:lnTo>
                <a:lnTo>
                  <a:pt x="0" y="1410776"/>
                </a:lnTo>
                <a:lnTo>
                  <a:pt x="2471106" y="1410776"/>
                </a:lnTo>
                <a:lnTo>
                  <a:pt x="2471106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7"/>
          <p:cNvSpPr/>
          <p:nvPr/>
        </p:nvSpPr>
        <p:spPr>
          <a:xfrm flipH="1" rot="10682523">
            <a:off x="5087110" y="3690921"/>
            <a:ext cx="2471106" cy="1410777"/>
          </a:xfrm>
          <a:custGeom>
            <a:rect b="b" l="l" r="r" t="t"/>
            <a:pathLst>
              <a:path extrusionOk="0" h="1410777" w="2471106">
                <a:moveTo>
                  <a:pt x="2471105" y="0"/>
                </a:moveTo>
                <a:lnTo>
                  <a:pt x="0" y="0"/>
                </a:lnTo>
                <a:lnTo>
                  <a:pt x="0" y="1410777"/>
                </a:lnTo>
                <a:lnTo>
                  <a:pt x="2471105" y="1410777"/>
                </a:lnTo>
                <a:lnTo>
                  <a:pt x="24711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18324" l="0" r="0" t="-18326"/>
            </a:stretch>
          </a:blipFill>
          <a:ln>
            <a:noFill/>
          </a:ln>
        </p:spPr>
      </p:sp>
      <p:sp>
        <p:nvSpPr>
          <p:cNvPr id="312" name="Google Shape;312;p18"/>
          <p:cNvSpPr/>
          <p:nvPr/>
        </p:nvSpPr>
        <p:spPr>
          <a:xfrm>
            <a:off x="2181352" y="2286453"/>
            <a:ext cx="13579520" cy="6042886"/>
          </a:xfrm>
          <a:custGeom>
            <a:rect b="b" l="l" r="r" t="t"/>
            <a:pathLst>
              <a:path extrusionOk="0" h="6042886" w="13579520">
                <a:moveTo>
                  <a:pt x="0" y="0"/>
                </a:moveTo>
                <a:lnTo>
                  <a:pt x="13579520" y="0"/>
                </a:lnTo>
                <a:lnTo>
                  <a:pt x="13579520" y="6042886"/>
                </a:lnTo>
                <a:lnTo>
                  <a:pt x="0" y="6042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8"/>
          <p:cNvSpPr/>
          <p:nvPr/>
        </p:nvSpPr>
        <p:spPr>
          <a:xfrm rot="1838892">
            <a:off x="2937506" y="2154944"/>
            <a:ext cx="1043254" cy="982556"/>
          </a:xfrm>
          <a:custGeom>
            <a:rect b="b" l="l" r="r" t="t"/>
            <a:pathLst>
              <a:path extrusionOk="0" h="982556" w="1043254">
                <a:moveTo>
                  <a:pt x="0" y="0"/>
                </a:moveTo>
                <a:lnTo>
                  <a:pt x="1043255" y="0"/>
                </a:lnTo>
                <a:lnTo>
                  <a:pt x="1043255" y="982556"/>
                </a:lnTo>
                <a:lnTo>
                  <a:pt x="0" y="982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8"/>
          <p:cNvSpPr txBox="1"/>
          <p:nvPr/>
        </p:nvSpPr>
        <p:spPr>
          <a:xfrm>
            <a:off x="4216006" y="3467514"/>
            <a:ext cx="9855988" cy="346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very much!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2435176" y="6964460"/>
            <a:ext cx="3671472" cy="901179"/>
          </a:xfrm>
          <a:custGeom>
            <a:rect b="b" l="l" r="r" t="t"/>
            <a:pathLst>
              <a:path extrusionOk="0" h="901179" w="3671472">
                <a:moveTo>
                  <a:pt x="0" y="0"/>
                </a:moveTo>
                <a:lnTo>
                  <a:pt x="3671472" y="0"/>
                </a:lnTo>
                <a:lnTo>
                  <a:pt x="3671472" y="901180"/>
                </a:lnTo>
                <a:lnTo>
                  <a:pt x="0" y="901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8"/>
          <p:cNvSpPr/>
          <p:nvPr/>
        </p:nvSpPr>
        <p:spPr>
          <a:xfrm rot="2104911">
            <a:off x="13370625" y="2371241"/>
            <a:ext cx="1800574" cy="1143364"/>
          </a:xfrm>
          <a:custGeom>
            <a:rect b="b" l="l" r="r" t="t"/>
            <a:pathLst>
              <a:path extrusionOk="0" h="1143364" w="1800574">
                <a:moveTo>
                  <a:pt x="0" y="0"/>
                </a:moveTo>
                <a:lnTo>
                  <a:pt x="1800574" y="0"/>
                </a:lnTo>
                <a:lnTo>
                  <a:pt x="1800574" y="1143364"/>
                </a:lnTo>
                <a:lnTo>
                  <a:pt x="0" y="1143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8"/>
          <p:cNvSpPr/>
          <p:nvPr/>
        </p:nvSpPr>
        <p:spPr>
          <a:xfrm rot="-8100000">
            <a:off x="2900487" y="6716817"/>
            <a:ext cx="1800574" cy="1143364"/>
          </a:xfrm>
          <a:custGeom>
            <a:rect b="b" l="l" r="r" t="t"/>
            <a:pathLst>
              <a:path extrusionOk="0" h="1143364" w="1800574">
                <a:moveTo>
                  <a:pt x="0" y="0"/>
                </a:moveTo>
                <a:lnTo>
                  <a:pt x="1800573" y="0"/>
                </a:lnTo>
                <a:lnTo>
                  <a:pt x="1800573" y="1143365"/>
                </a:lnTo>
                <a:lnTo>
                  <a:pt x="0" y="114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