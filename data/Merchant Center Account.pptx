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70" r:id="rId5"/>
    <p:sldId id="273" r:id="rId6"/>
    <p:sldId id="274" r:id="rId7"/>
    <p:sldId id="275" r:id="rId8"/>
    <p:sldId id="276" r:id="rId9"/>
    <p:sldId id="277" r:id="rId10"/>
    <p:sldId id="278" r:id="rId11"/>
    <p:sldId id="279" r:id="rId12"/>
    <p:sldId id="281" r:id="rId13"/>
    <p:sldId id="282" r:id="rId14"/>
    <p:sldId id="283" r:id="rId15"/>
    <p:sldId id="284" r:id="rId16"/>
    <p:sldId id="285" r:id="rId17"/>
    <p:sldId id="286" r:id="rId18"/>
    <p:sldId id="287" r:id="rId19"/>
    <p:sldId id="28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8653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451042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3864869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DD1F70-F667-4AB1-B0DF-6566C642AC0D}" type="datetimeFigureOut">
              <a:rPr lang="en-IN" smtClean="0"/>
              <a:t>27-12-2023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61049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DD1F70-F667-4AB1-B0DF-6566C642AC0D}" type="datetimeFigureOut">
              <a:rPr lang="en-IN" smtClean="0"/>
              <a:t>27-12-2023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31325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DD1F70-F667-4AB1-B0DF-6566C642AC0D}" type="datetimeFigureOut">
              <a:rPr lang="en-IN" smtClean="0"/>
              <a:t>27-12-2023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2701379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DD1F70-F667-4AB1-B0DF-6566C642AC0D}" type="datetimeFigureOut">
              <a:rPr lang="en-IN" smtClean="0"/>
              <a:t>27-12-2023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3263606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DDD1F70-F667-4AB1-B0DF-6566C642AC0D}" type="datetimeFigureOut">
              <a:rPr lang="en-IN" smtClean="0"/>
              <a:t>27-12-2023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33383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DD1F70-F667-4AB1-B0DF-6566C642AC0D}" type="datetimeFigureOut">
              <a:rPr lang="en-IN" smtClean="0"/>
              <a:t>27-12-2023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92464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2598126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89284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41259809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75461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19752544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4234459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DD1F70-F667-4AB1-B0DF-6566C642AC0D}"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BC392-F65A-412B-A1BA-036EE106E326}" type="slidenum">
              <a:rPr lang="en-IN" smtClean="0"/>
              <a:t>‹#›</a:t>
            </a:fld>
            <a:endParaRPr lang="en-IN"/>
          </a:p>
        </p:txBody>
      </p:sp>
    </p:spTree>
    <p:extLst>
      <p:ext uri="{BB962C8B-B14F-4D97-AF65-F5344CB8AC3E}">
        <p14:creationId xmlns:p14="http://schemas.microsoft.com/office/powerpoint/2010/main" val="433826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DDD1F70-F667-4AB1-B0DF-6566C642AC0D}" type="datetimeFigureOut">
              <a:rPr lang="en-IN" smtClean="0"/>
              <a:t>27-12-2023</a:t>
            </a:fld>
            <a:endParaRPr lang="en-IN"/>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D79BC392-F65A-412B-A1BA-036EE106E326}" type="slidenum">
              <a:rPr lang="en-IN" smtClean="0"/>
              <a:t>‹#›</a:t>
            </a:fld>
            <a:endParaRPr lang="en-IN"/>
          </a:p>
        </p:txBody>
      </p:sp>
    </p:spTree>
    <p:extLst>
      <p:ext uri="{BB962C8B-B14F-4D97-AF65-F5344CB8AC3E}">
        <p14:creationId xmlns:p14="http://schemas.microsoft.com/office/powerpoint/2010/main" val="34093877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reengeeks.ca/woocommerce-hosting" TargetMode="External"/><Relationship Id="rId2" Type="http://schemas.openxmlformats.org/officeDocument/2006/relationships/hyperlink" Target="https://www.greengeeks.com/tutorials/article/woocommerce-product-variations-wordpres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greengeeks.com/tutorials/article/how-to-install-a-plugin-on-your-wordpress-sit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reengeeks.com/glossary/custom-fields/"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Merchant Center Account</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933153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Agenda</a:t>
            </a:r>
            <a:endParaRPr lang="en-IN" dirty="0"/>
          </a:p>
        </p:txBody>
      </p:sp>
      <p:sp>
        <p:nvSpPr>
          <p:cNvPr id="2" name="Content Placeholder 1"/>
          <p:cNvSpPr>
            <a:spLocks noGrp="1"/>
          </p:cNvSpPr>
          <p:nvPr>
            <p:ph idx="1"/>
          </p:nvPr>
        </p:nvSpPr>
        <p:spPr/>
        <p:txBody>
          <a:bodyPr/>
          <a:lstStyle/>
          <a:p>
            <a:r>
              <a:rPr lang="en-US" dirty="0"/>
              <a:t> What is merchant account</a:t>
            </a:r>
          </a:p>
          <a:p>
            <a:r>
              <a:rPr lang="en-US" dirty="0"/>
              <a:t> Why it is Important</a:t>
            </a:r>
          </a:p>
          <a:p>
            <a:r>
              <a:rPr lang="en-US" dirty="0"/>
              <a:t> Merchant Center Account Set Up</a:t>
            </a:r>
          </a:p>
          <a:p>
            <a:r>
              <a:rPr lang="en-US" dirty="0"/>
              <a:t>Feed Generation from Product Feed Pro Plugin</a:t>
            </a:r>
          </a:p>
          <a:p>
            <a:pPr marL="0" indent="0">
              <a:buNone/>
            </a:pPr>
            <a:endParaRPr lang="en-IN" dirty="0"/>
          </a:p>
        </p:txBody>
      </p:sp>
    </p:spTree>
    <p:extLst>
      <p:ext uri="{BB962C8B-B14F-4D97-AF65-F5344CB8AC3E}">
        <p14:creationId xmlns:p14="http://schemas.microsoft.com/office/powerpoint/2010/main" val="1204853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Why it is Important</a:t>
            </a:r>
            <a:endParaRPr lang="en-IN" dirty="0"/>
          </a:p>
        </p:txBody>
      </p:sp>
      <p:sp>
        <p:nvSpPr>
          <p:cNvPr id="2" name="Content Placeholder 1"/>
          <p:cNvSpPr>
            <a:spLocks noGrp="1"/>
          </p:cNvSpPr>
          <p:nvPr>
            <p:ph idx="1"/>
          </p:nvPr>
        </p:nvSpPr>
        <p:spPr/>
        <p:txBody>
          <a:bodyPr>
            <a:normAutofit fontScale="92500" lnSpcReduction="10000"/>
          </a:bodyPr>
          <a:lstStyle/>
          <a:p>
            <a:r>
              <a:rPr lang="en-US" dirty="0"/>
              <a:t>The Merchant Center account entails one major benefit: it is a gateway to advertising your products with Google Shopping. It allows you to store essential product information needed to generate and serve your product ads to potential customers.</a:t>
            </a:r>
          </a:p>
          <a:p>
            <a:endParaRPr lang="en-US" dirty="0"/>
          </a:p>
          <a:p>
            <a:r>
              <a:rPr lang="en-US" dirty="0"/>
              <a:t>Without Google Merchant Center (GMC), your products will not appear on Google Shopping. Also, you cannot create Product Ads unless you add sufficient product information to your GMC account.</a:t>
            </a:r>
          </a:p>
          <a:p>
            <a:pPr marL="0" indent="0">
              <a:buNone/>
            </a:pPr>
            <a:endParaRPr lang="en-US" dirty="0"/>
          </a:p>
          <a:p>
            <a:r>
              <a:rPr lang="en-US" dirty="0"/>
              <a:t>If you sell products directly to consumers, Google Merchant Center is one of the tools you need. It should be an integral part of your overall digital marketing strategy.</a:t>
            </a:r>
            <a:endParaRPr lang="en-IN" dirty="0"/>
          </a:p>
        </p:txBody>
      </p:sp>
    </p:spTree>
    <p:extLst>
      <p:ext uri="{BB962C8B-B14F-4D97-AF65-F5344CB8AC3E}">
        <p14:creationId xmlns:p14="http://schemas.microsoft.com/office/powerpoint/2010/main" val="2245688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How to set up a Google Merchant Center account</a:t>
            </a:r>
          </a:p>
        </p:txBody>
      </p:sp>
      <p:sp>
        <p:nvSpPr>
          <p:cNvPr id="2" name="Content Placeholder 1"/>
          <p:cNvSpPr>
            <a:spLocks noGrp="1"/>
          </p:cNvSpPr>
          <p:nvPr>
            <p:ph idx="1"/>
          </p:nvPr>
        </p:nvSpPr>
        <p:spPr/>
        <p:txBody>
          <a:bodyPr>
            <a:normAutofit/>
          </a:bodyPr>
          <a:lstStyle/>
          <a:p>
            <a:pPr algn="l">
              <a:buFont typeface="+mj-lt"/>
              <a:buAutoNum type="arabicPeriod"/>
            </a:pPr>
            <a:r>
              <a:rPr lang="en-US" dirty="0"/>
              <a:t> </a:t>
            </a:r>
            <a:r>
              <a:rPr lang="en-US" b="0" i="0" dirty="0">
                <a:solidFill>
                  <a:srgbClr val="1F1F1F"/>
                </a:solidFill>
                <a:effectLst/>
                <a:latin typeface="var(--cds-font-family-source-sans-pro)"/>
              </a:rPr>
              <a:t>Sign up for a Google account if you don’t already have one. </a:t>
            </a:r>
          </a:p>
          <a:p>
            <a:pPr algn="l">
              <a:buFont typeface="+mj-lt"/>
              <a:buAutoNum type="arabicPeriod"/>
            </a:pPr>
            <a:r>
              <a:rPr lang="en-US" b="0" i="0" dirty="0">
                <a:solidFill>
                  <a:srgbClr val="1F1F1F"/>
                </a:solidFill>
                <a:effectLst/>
                <a:latin typeface="var(--cds-font-family-source-sans-pro)"/>
              </a:rPr>
              <a:t>Create a merchant Center account.</a:t>
            </a:r>
          </a:p>
          <a:p>
            <a:pPr algn="l">
              <a:buFont typeface="+mj-lt"/>
              <a:buAutoNum type="arabicPeriod"/>
            </a:pPr>
            <a:r>
              <a:rPr lang="en-US" b="0" i="0" dirty="0">
                <a:solidFill>
                  <a:srgbClr val="1F1F1F"/>
                </a:solidFill>
                <a:effectLst/>
                <a:latin typeface="var(--cds-font-family-source-sans-pro)"/>
              </a:rPr>
              <a:t>Add your business information. </a:t>
            </a:r>
          </a:p>
          <a:p>
            <a:pPr algn="l">
              <a:buFont typeface="+mj-lt"/>
              <a:buAutoNum type="arabicPeriod"/>
            </a:pPr>
            <a:r>
              <a:rPr lang="en-US" b="0" i="0" dirty="0">
                <a:solidFill>
                  <a:srgbClr val="1F1F1F"/>
                </a:solidFill>
                <a:effectLst/>
                <a:latin typeface="var(--cds-font-family-source-sans-pro)"/>
              </a:rPr>
              <a:t>Verify your business URL.</a:t>
            </a:r>
          </a:p>
          <a:p>
            <a:pPr algn="l">
              <a:buFont typeface="+mj-lt"/>
              <a:buAutoNum type="arabicPeriod"/>
            </a:pPr>
            <a:r>
              <a:rPr lang="en-US" b="0" i="0" dirty="0">
                <a:solidFill>
                  <a:srgbClr val="1F1F1F"/>
                </a:solidFill>
                <a:effectLst/>
                <a:latin typeface="var(--cds-font-family-source-sans-pro)"/>
              </a:rPr>
              <a:t>Set up shipping.</a:t>
            </a:r>
          </a:p>
          <a:p>
            <a:pPr algn="l">
              <a:buFont typeface="+mj-lt"/>
              <a:buAutoNum type="arabicPeriod"/>
            </a:pPr>
            <a:r>
              <a:rPr lang="en-US" b="0" i="0" dirty="0">
                <a:solidFill>
                  <a:srgbClr val="1F1F1F"/>
                </a:solidFill>
                <a:effectLst/>
                <a:latin typeface="var(--cds-font-family-source-sans-pro)"/>
              </a:rPr>
              <a:t>Set up sales tax.</a:t>
            </a:r>
          </a:p>
          <a:p>
            <a:pPr algn="l">
              <a:buFont typeface="+mj-lt"/>
              <a:buAutoNum type="arabicPeriod"/>
            </a:pPr>
            <a:r>
              <a:rPr lang="en-US" b="0" i="0" dirty="0">
                <a:solidFill>
                  <a:srgbClr val="1F1F1F"/>
                </a:solidFill>
                <a:effectLst/>
                <a:latin typeface="var(--cds-font-family-source-sans-pro)"/>
              </a:rPr>
              <a:t>Add products.</a:t>
            </a:r>
          </a:p>
          <a:p>
            <a:pPr algn="l">
              <a:buFont typeface="+mj-lt"/>
              <a:buAutoNum type="arabicPeriod"/>
            </a:pPr>
            <a:r>
              <a:rPr lang="en-US" b="0" i="0" dirty="0">
                <a:solidFill>
                  <a:srgbClr val="1F1F1F"/>
                </a:solidFill>
                <a:effectLst/>
                <a:latin typeface="var(--cds-font-family-source-sans-pro)"/>
              </a:rPr>
              <a:t>Review Google's product policies.</a:t>
            </a:r>
          </a:p>
          <a:p>
            <a:pPr algn="l">
              <a:buFont typeface="+mj-lt"/>
              <a:buAutoNum type="arabicPeriod"/>
            </a:pPr>
            <a:r>
              <a:rPr lang="en-US" b="0" i="0" dirty="0">
                <a:solidFill>
                  <a:srgbClr val="1F1F1F"/>
                </a:solidFill>
                <a:effectLst/>
                <a:latin typeface="var(--cds-font-family-source-sans-pro)"/>
              </a:rPr>
              <a:t>Submit for review.</a:t>
            </a:r>
          </a:p>
          <a:p>
            <a:endParaRPr lang="en-IN" dirty="0"/>
          </a:p>
        </p:txBody>
      </p:sp>
    </p:spTree>
    <p:extLst>
      <p:ext uri="{BB962C8B-B14F-4D97-AF65-F5344CB8AC3E}">
        <p14:creationId xmlns:p14="http://schemas.microsoft.com/office/powerpoint/2010/main" val="1947858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How to set up a Google Merchant Center account</a:t>
            </a:r>
          </a:p>
        </p:txBody>
      </p:sp>
      <p:sp>
        <p:nvSpPr>
          <p:cNvPr id="2" name="Content Placeholder 1"/>
          <p:cNvSpPr>
            <a:spLocks noGrp="1"/>
          </p:cNvSpPr>
          <p:nvPr>
            <p:ph idx="1"/>
          </p:nvPr>
        </p:nvSpPr>
        <p:spPr>
          <a:xfrm>
            <a:off x="539552" y="1916832"/>
            <a:ext cx="7408333" cy="3450696"/>
          </a:xfrm>
        </p:spPr>
        <p:txBody>
          <a:bodyPr>
            <a:normAutofit/>
          </a:bodyPr>
          <a:lstStyle/>
          <a:p>
            <a:pPr marL="0" indent="0">
              <a:buNone/>
            </a:pPr>
            <a:r>
              <a:rPr lang="en-US" sz="1400" b="1" i="0" dirty="0">
                <a:solidFill>
                  <a:srgbClr val="1F1F1F"/>
                </a:solidFill>
                <a:effectLst/>
                <a:latin typeface="Source Sans Pro" panose="020B0503030403020204" pitchFamily="34" charset="0"/>
              </a:rPr>
              <a:t>Add your business information. </a:t>
            </a:r>
          </a:p>
          <a:p>
            <a:pPr marL="0" indent="0">
              <a:buNone/>
            </a:pPr>
            <a:r>
              <a:rPr lang="en-US" sz="1400" b="0" i="0" dirty="0">
                <a:solidFill>
                  <a:srgbClr val="1F1F1F"/>
                </a:solidFill>
                <a:effectLst/>
                <a:latin typeface="Source Sans Pro" panose="020B0503030403020204" pitchFamily="34" charset="0"/>
              </a:rPr>
              <a:t>The business details you'll be requested to enter will depend on the type of business you're setting up. Follow Google’s prompts to ensure you provide all required information, which may include the business name and address, website, and contact details. You may be asked to provide a phone number for verification.</a:t>
            </a:r>
          </a:p>
          <a:p>
            <a:pPr marL="0" indent="0">
              <a:buNone/>
            </a:pPr>
            <a:endParaRPr lang="en-US" sz="1400" dirty="0">
              <a:solidFill>
                <a:srgbClr val="1F1F1F"/>
              </a:solidFill>
              <a:latin typeface="Source Sans Pro" panose="020B0503030403020204" pitchFamily="34" charset="0"/>
            </a:endParaRPr>
          </a:p>
          <a:p>
            <a:pPr marL="0" indent="0">
              <a:buNone/>
            </a:pPr>
            <a:r>
              <a:rPr lang="en-US" sz="1400" b="1" i="0" dirty="0">
                <a:solidFill>
                  <a:srgbClr val="1F1F1F"/>
                </a:solidFill>
                <a:effectLst/>
                <a:latin typeface="Source Sans Pro" panose="020B0503030403020204" pitchFamily="34" charset="0"/>
              </a:rPr>
              <a:t>Verify your business website</a:t>
            </a:r>
          </a:p>
          <a:p>
            <a:pPr marL="0" indent="0">
              <a:buNone/>
            </a:pPr>
            <a:r>
              <a:rPr lang="en-US" sz="1400" dirty="0">
                <a:solidFill>
                  <a:srgbClr val="1F1F1F"/>
                </a:solidFill>
                <a:latin typeface="Source Sans Pro" panose="020B0503030403020204" pitchFamily="34" charset="0"/>
              </a:rPr>
              <a:t>To link your website to the merchant account, Google will ask you to verify ownership and claim your website URL my adding an HTML tag or uploading an HTML file to your site. You may also choose to verify through Google Analytics if you're already using it on your site. </a:t>
            </a:r>
          </a:p>
          <a:p>
            <a:pPr marL="0" indent="0">
              <a:buNone/>
            </a:pPr>
            <a:endParaRPr lang="en-US" sz="1600" dirty="0">
              <a:solidFill>
                <a:srgbClr val="1F1F1F"/>
              </a:solidFill>
              <a:latin typeface="Source Sans Pro" panose="020B0503030403020204" pitchFamily="34" charset="0"/>
            </a:endParaRPr>
          </a:p>
          <a:p>
            <a:pPr marL="0" indent="0">
              <a:buNone/>
            </a:pPr>
            <a:endParaRPr lang="en-US" b="1" i="0" dirty="0">
              <a:solidFill>
                <a:srgbClr val="1F1F1F"/>
              </a:solidFill>
              <a:effectLst/>
              <a:latin typeface="Source Sans Pro" panose="020B0503030403020204" pitchFamily="34" charset="0"/>
            </a:endParaRPr>
          </a:p>
          <a:p>
            <a:pPr algn="l">
              <a:buFont typeface="+mj-lt"/>
              <a:buAutoNum type="arabicPeriod"/>
            </a:pPr>
            <a:endParaRPr lang="en-IN" dirty="0"/>
          </a:p>
        </p:txBody>
      </p:sp>
      <p:pic>
        <p:nvPicPr>
          <p:cNvPr id="5" name="Picture 4">
            <a:extLst>
              <a:ext uri="{FF2B5EF4-FFF2-40B4-BE49-F238E27FC236}">
                <a16:creationId xmlns:a16="http://schemas.microsoft.com/office/drawing/2014/main" id="{BAA2455C-0E84-7012-3F3B-239338A69FE4}"/>
              </a:ext>
            </a:extLst>
          </p:cNvPr>
          <p:cNvPicPr>
            <a:picLocks noChangeAspect="1"/>
          </p:cNvPicPr>
          <p:nvPr/>
        </p:nvPicPr>
        <p:blipFill>
          <a:blip r:embed="rId2"/>
          <a:stretch>
            <a:fillRect/>
          </a:stretch>
        </p:blipFill>
        <p:spPr>
          <a:xfrm flipV="1">
            <a:off x="3491880" y="4293096"/>
            <a:ext cx="3487228" cy="1763740"/>
          </a:xfrm>
          <a:prstGeom prst="rect">
            <a:avLst/>
          </a:prstGeom>
        </p:spPr>
      </p:pic>
    </p:spTree>
    <p:extLst>
      <p:ext uri="{BB962C8B-B14F-4D97-AF65-F5344CB8AC3E}">
        <p14:creationId xmlns:p14="http://schemas.microsoft.com/office/powerpoint/2010/main" val="3087347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l"/>
            <a:r>
              <a:rPr lang="en-US" dirty="0"/>
              <a:t>How to set up a Google Merchant Center account</a:t>
            </a:r>
          </a:p>
        </p:txBody>
      </p:sp>
      <p:sp>
        <p:nvSpPr>
          <p:cNvPr id="2" name="Content Placeholder 1"/>
          <p:cNvSpPr>
            <a:spLocks noGrp="1"/>
          </p:cNvSpPr>
          <p:nvPr>
            <p:ph idx="1"/>
          </p:nvPr>
        </p:nvSpPr>
        <p:spPr>
          <a:xfrm>
            <a:off x="539552" y="1916832"/>
            <a:ext cx="7408333" cy="3450696"/>
          </a:xfrm>
        </p:spPr>
        <p:txBody>
          <a:bodyPr>
            <a:normAutofit/>
          </a:bodyPr>
          <a:lstStyle/>
          <a:p>
            <a:pPr marL="0" indent="0">
              <a:buNone/>
            </a:pPr>
            <a:r>
              <a:rPr lang="en-US" sz="1400" b="1" i="0" dirty="0">
                <a:solidFill>
                  <a:srgbClr val="1F1F1F"/>
                </a:solidFill>
                <a:effectLst/>
                <a:latin typeface="Source Sans Pro" panose="020B0503030403020204" pitchFamily="34" charset="0"/>
              </a:rPr>
              <a:t>Add your business information. </a:t>
            </a:r>
          </a:p>
          <a:p>
            <a:pPr marL="0" indent="0">
              <a:buNone/>
            </a:pPr>
            <a:r>
              <a:rPr lang="en-US" sz="1400" b="0" i="0" dirty="0">
                <a:solidFill>
                  <a:srgbClr val="1F1F1F"/>
                </a:solidFill>
                <a:effectLst/>
                <a:latin typeface="Source Sans Pro" panose="020B0503030403020204" pitchFamily="34" charset="0"/>
              </a:rPr>
              <a:t>The business details you'll be requested to enter will depend on the type of business you're setting up. Follow Google’s prompts to ensure you provide all required information, which may include the business name and address, website, and contact details. You may be asked to provide a phone number for verification.</a:t>
            </a:r>
          </a:p>
          <a:p>
            <a:pPr marL="0" indent="0">
              <a:buNone/>
            </a:pPr>
            <a:endParaRPr lang="en-US" sz="1400" dirty="0">
              <a:solidFill>
                <a:srgbClr val="1F1F1F"/>
              </a:solidFill>
              <a:latin typeface="Source Sans Pro" panose="020B0503030403020204" pitchFamily="34" charset="0"/>
            </a:endParaRPr>
          </a:p>
          <a:p>
            <a:pPr marL="0" indent="0">
              <a:buNone/>
            </a:pPr>
            <a:r>
              <a:rPr lang="en-US" sz="1400" b="1" i="0" dirty="0">
                <a:solidFill>
                  <a:srgbClr val="1F1F1F"/>
                </a:solidFill>
                <a:effectLst/>
                <a:latin typeface="Source Sans Pro" panose="020B0503030403020204" pitchFamily="34" charset="0"/>
              </a:rPr>
              <a:t>Verify your business website</a:t>
            </a:r>
          </a:p>
          <a:p>
            <a:pPr marL="0" indent="0">
              <a:buNone/>
            </a:pPr>
            <a:r>
              <a:rPr lang="en-US" sz="1400" dirty="0">
                <a:solidFill>
                  <a:srgbClr val="1F1F1F"/>
                </a:solidFill>
                <a:latin typeface="Source Sans Pro" panose="020B0503030403020204" pitchFamily="34" charset="0"/>
              </a:rPr>
              <a:t>To link your website to the merchant account, Google will ask you to verify ownership and claim your website URL my adding an HTML tag or uploading an HTML file to your site. You may also choose to verify through Google Analytics if you're already using it on your site. </a:t>
            </a:r>
          </a:p>
          <a:p>
            <a:pPr marL="0" indent="0">
              <a:buNone/>
            </a:pPr>
            <a:endParaRPr lang="en-US" sz="1600" dirty="0">
              <a:solidFill>
                <a:srgbClr val="1F1F1F"/>
              </a:solidFill>
              <a:latin typeface="Source Sans Pro" panose="020B0503030403020204" pitchFamily="34" charset="0"/>
            </a:endParaRPr>
          </a:p>
          <a:p>
            <a:pPr marL="0" indent="0">
              <a:buNone/>
            </a:pPr>
            <a:endParaRPr lang="en-US" b="1" i="0" dirty="0">
              <a:solidFill>
                <a:srgbClr val="1F1F1F"/>
              </a:solidFill>
              <a:effectLst/>
              <a:latin typeface="Source Sans Pro" panose="020B0503030403020204" pitchFamily="34" charset="0"/>
            </a:endParaRPr>
          </a:p>
          <a:p>
            <a:pPr algn="l">
              <a:buFont typeface="+mj-lt"/>
              <a:buAutoNum type="arabicPeriod"/>
            </a:pPr>
            <a:endParaRPr lang="en-IN" dirty="0"/>
          </a:p>
        </p:txBody>
      </p:sp>
      <p:pic>
        <p:nvPicPr>
          <p:cNvPr id="5" name="Picture 4">
            <a:extLst>
              <a:ext uri="{FF2B5EF4-FFF2-40B4-BE49-F238E27FC236}">
                <a16:creationId xmlns:a16="http://schemas.microsoft.com/office/drawing/2014/main" id="{BAA2455C-0E84-7012-3F3B-239338A69FE4}"/>
              </a:ext>
            </a:extLst>
          </p:cNvPr>
          <p:cNvPicPr>
            <a:picLocks noChangeAspect="1"/>
          </p:cNvPicPr>
          <p:nvPr/>
        </p:nvPicPr>
        <p:blipFill>
          <a:blip r:embed="rId2"/>
          <a:stretch>
            <a:fillRect/>
          </a:stretch>
        </p:blipFill>
        <p:spPr>
          <a:xfrm flipV="1">
            <a:off x="699929" y="4725144"/>
            <a:ext cx="3487228" cy="1763740"/>
          </a:xfrm>
          <a:prstGeom prst="rect">
            <a:avLst/>
          </a:prstGeom>
        </p:spPr>
      </p:pic>
    </p:spTree>
    <p:extLst>
      <p:ext uri="{BB962C8B-B14F-4D97-AF65-F5344CB8AC3E}">
        <p14:creationId xmlns:p14="http://schemas.microsoft.com/office/powerpoint/2010/main" val="318419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How to set up a Google Merchant Center account</a:t>
            </a:r>
          </a:p>
        </p:txBody>
      </p:sp>
      <p:sp>
        <p:nvSpPr>
          <p:cNvPr id="2" name="Content Placeholder 1"/>
          <p:cNvSpPr>
            <a:spLocks noGrp="1"/>
          </p:cNvSpPr>
          <p:nvPr>
            <p:ph idx="1"/>
          </p:nvPr>
        </p:nvSpPr>
        <p:spPr>
          <a:xfrm>
            <a:off x="539552" y="1916832"/>
            <a:ext cx="7408333" cy="3450696"/>
          </a:xfrm>
        </p:spPr>
        <p:txBody>
          <a:bodyPr>
            <a:normAutofit/>
          </a:bodyPr>
          <a:lstStyle/>
          <a:p>
            <a:pPr marL="0" indent="0" algn="l">
              <a:buNone/>
            </a:pPr>
            <a:r>
              <a:rPr lang="en-US" sz="1200" b="1" i="0" dirty="0">
                <a:solidFill>
                  <a:srgbClr val="1F1F1F"/>
                </a:solidFill>
                <a:effectLst/>
                <a:latin typeface="Source Sans Pro" panose="020B0503030403020204" pitchFamily="34" charset="0"/>
              </a:rPr>
              <a:t>Set up shipping.</a:t>
            </a:r>
          </a:p>
          <a:p>
            <a:pPr marL="0" indent="0" algn="l">
              <a:buNone/>
            </a:pPr>
            <a:r>
              <a:rPr lang="en-US" sz="1200" b="0" i="0" dirty="0">
                <a:solidFill>
                  <a:srgbClr val="1F1F1F"/>
                </a:solidFill>
                <a:effectLst/>
                <a:latin typeface="Source Sans Pro" panose="020B0503030403020204" pitchFamily="34" charset="0"/>
              </a:rPr>
              <a:t>On this screen, you can select which countries you deliver to, and choose a currency and delivery location.</a:t>
            </a:r>
          </a:p>
          <a:p>
            <a:pPr marL="0" indent="0" algn="l">
              <a:buNone/>
            </a:pPr>
            <a:br>
              <a:rPr lang="en-US" sz="1200" dirty="0"/>
            </a:br>
            <a:endParaRPr lang="en-US" sz="1600" dirty="0">
              <a:solidFill>
                <a:srgbClr val="1F1F1F"/>
              </a:solidFill>
              <a:latin typeface="Source Sans Pro" panose="020B0503030403020204" pitchFamily="34" charset="0"/>
            </a:endParaRPr>
          </a:p>
          <a:p>
            <a:pPr marL="0" indent="0">
              <a:buNone/>
            </a:pPr>
            <a:endParaRPr lang="en-US" b="1" i="0" dirty="0">
              <a:solidFill>
                <a:srgbClr val="1F1F1F"/>
              </a:solidFill>
              <a:effectLst/>
              <a:latin typeface="Source Sans Pro" panose="020B0503030403020204" pitchFamily="34" charset="0"/>
            </a:endParaRPr>
          </a:p>
          <a:p>
            <a:pPr algn="l">
              <a:buFont typeface="+mj-lt"/>
              <a:buAutoNum type="arabicPeriod"/>
            </a:pPr>
            <a:endParaRPr lang="en-IN" dirty="0"/>
          </a:p>
        </p:txBody>
      </p:sp>
      <p:pic>
        <p:nvPicPr>
          <p:cNvPr id="6" name="Picture 5">
            <a:extLst>
              <a:ext uri="{FF2B5EF4-FFF2-40B4-BE49-F238E27FC236}">
                <a16:creationId xmlns:a16="http://schemas.microsoft.com/office/drawing/2014/main" id="{085D611C-AC3B-7113-3BE6-174B748E6F4F}"/>
              </a:ext>
            </a:extLst>
          </p:cNvPr>
          <p:cNvPicPr>
            <a:picLocks noChangeAspect="1"/>
          </p:cNvPicPr>
          <p:nvPr/>
        </p:nvPicPr>
        <p:blipFill>
          <a:blip r:embed="rId2"/>
          <a:stretch>
            <a:fillRect/>
          </a:stretch>
        </p:blipFill>
        <p:spPr>
          <a:xfrm>
            <a:off x="539552" y="2420888"/>
            <a:ext cx="5769399" cy="3028202"/>
          </a:xfrm>
          <a:prstGeom prst="rect">
            <a:avLst/>
          </a:prstGeom>
        </p:spPr>
      </p:pic>
    </p:spTree>
    <p:extLst>
      <p:ext uri="{BB962C8B-B14F-4D97-AF65-F5344CB8AC3E}">
        <p14:creationId xmlns:p14="http://schemas.microsoft.com/office/powerpoint/2010/main" val="1963525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60648"/>
            <a:ext cx="8229600" cy="1252728"/>
          </a:xfrm>
        </p:spPr>
        <p:txBody>
          <a:bodyPr>
            <a:normAutofit/>
          </a:bodyPr>
          <a:lstStyle/>
          <a:p>
            <a:r>
              <a:rPr lang="en-US" dirty="0"/>
              <a:t>How to set up a Google Merchant Center account</a:t>
            </a:r>
          </a:p>
        </p:txBody>
      </p:sp>
      <p:sp>
        <p:nvSpPr>
          <p:cNvPr id="2" name="Content Placeholder 1"/>
          <p:cNvSpPr>
            <a:spLocks noGrp="1"/>
          </p:cNvSpPr>
          <p:nvPr>
            <p:ph idx="1"/>
          </p:nvPr>
        </p:nvSpPr>
        <p:spPr>
          <a:xfrm>
            <a:off x="539552" y="1916832"/>
            <a:ext cx="7408333" cy="3450696"/>
          </a:xfrm>
        </p:spPr>
        <p:txBody>
          <a:bodyPr>
            <a:normAutofit/>
          </a:bodyPr>
          <a:lstStyle/>
          <a:p>
            <a:pPr marL="0" indent="0">
              <a:buNone/>
            </a:pPr>
            <a:r>
              <a:rPr lang="en-IN" sz="1800" b="1" i="0">
                <a:solidFill>
                  <a:srgbClr val="1F1F1F"/>
                </a:solidFill>
                <a:effectLst/>
                <a:latin typeface="Source Sans Pro" panose="020B0503030403020204" pitchFamily="34" charset="0"/>
              </a:rPr>
              <a:t>Set up sales tax.</a:t>
            </a:r>
          </a:p>
          <a:p>
            <a:pPr marL="0" indent="0">
              <a:buNone/>
            </a:pPr>
            <a:r>
              <a:rPr lang="en-US" sz="1400" b="0" i="0">
                <a:solidFill>
                  <a:srgbClr val="1F1F1F"/>
                </a:solidFill>
                <a:effectLst/>
                <a:latin typeface="Source Sans Pro" panose="020B0503030403020204" pitchFamily="34" charset="0"/>
              </a:rPr>
              <a:t>Google will suggest a tax setup for you based on the location of your business. You can choose to let Google determine the amount of sales tax to collect or opt to set this up manually. You can also select whether shipping and handling charges are taxable or not. </a:t>
            </a:r>
            <a:endParaRPr lang="en-US" b="1" i="0">
              <a:solidFill>
                <a:srgbClr val="1F1F1F"/>
              </a:solidFill>
              <a:effectLst/>
              <a:latin typeface="Source Sans Pro" panose="020B0503030403020204" pitchFamily="34" charset="0"/>
            </a:endParaRPr>
          </a:p>
          <a:p>
            <a:pPr algn="l">
              <a:buFont typeface="+mj-lt"/>
              <a:buAutoNum type="arabicPeriod"/>
            </a:pPr>
            <a:endParaRPr lang="en-IN" dirty="0"/>
          </a:p>
        </p:txBody>
      </p:sp>
      <p:pic>
        <p:nvPicPr>
          <p:cNvPr id="5" name="Picture 4">
            <a:extLst>
              <a:ext uri="{FF2B5EF4-FFF2-40B4-BE49-F238E27FC236}">
                <a16:creationId xmlns:a16="http://schemas.microsoft.com/office/drawing/2014/main" id="{70BF1C36-9196-42F4-ADE9-33E164C3EDDA}"/>
              </a:ext>
            </a:extLst>
          </p:cNvPr>
          <p:cNvPicPr>
            <a:picLocks noChangeAspect="1"/>
          </p:cNvPicPr>
          <p:nvPr/>
        </p:nvPicPr>
        <p:blipFill>
          <a:blip r:embed="rId2"/>
          <a:stretch>
            <a:fillRect/>
          </a:stretch>
        </p:blipFill>
        <p:spPr>
          <a:xfrm>
            <a:off x="539553" y="3068960"/>
            <a:ext cx="6120680" cy="2519532"/>
          </a:xfrm>
          <a:prstGeom prst="rect">
            <a:avLst/>
          </a:prstGeom>
        </p:spPr>
      </p:pic>
      <p:sp>
        <p:nvSpPr>
          <p:cNvPr id="8" name="TextBox 7">
            <a:extLst>
              <a:ext uri="{FF2B5EF4-FFF2-40B4-BE49-F238E27FC236}">
                <a16:creationId xmlns:a16="http://schemas.microsoft.com/office/drawing/2014/main" id="{59D0152D-0627-05E8-23C6-C40E11282ECE}"/>
              </a:ext>
            </a:extLst>
          </p:cNvPr>
          <p:cNvSpPr txBox="1"/>
          <p:nvPr/>
        </p:nvSpPr>
        <p:spPr>
          <a:xfrm>
            <a:off x="539552" y="5395037"/>
            <a:ext cx="4572000" cy="923330"/>
          </a:xfrm>
          <a:prstGeom prst="rect">
            <a:avLst/>
          </a:prstGeom>
          <a:noFill/>
        </p:spPr>
        <p:txBody>
          <a:bodyPr wrap="square">
            <a:spAutoFit/>
          </a:bodyPr>
          <a:lstStyle/>
          <a:p>
            <a:pPr algn="l"/>
            <a:r>
              <a:rPr lang="en-IN" b="1" i="0" dirty="0">
                <a:solidFill>
                  <a:srgbClr val="1F1F1F"/>
                </a:solidFill>
                <a:effectLst/>
                <a:latin typeface="Source Sans Pro" panose="020B0503030403020204" pitchFamily="34" charset="0"/>
              </a:rPr>
              <a:t>Add products.</a:t>
            </a:r>
          </a:p>
          <a:p>
            <a:br>
              <a:rPr lang="en-IN" dirty="0"/>
            </a:br>
            <a:endParaRPr lang="en-IN" dirty="0"/>
          </a:p>
        </p:txBody>
      </p:sp>
    </p:spTree>
    <p:extLst>
      <p:ext uri="{BB962C8B-B14F-4D97-AF65-F5344CB8AC3E}">
        <p14:creationId xmlns:p14="http://schemas.microsoft.com/office/powerpoint/2010/main" val="1019202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9552" y="764704"/>
            <a:ext cx="6059016" cy="1440160"/>
          </a:xfrm>
        </p:spPr>
        <p:txBody>
          <a:bodyPr>
            <a:normAutofit/>
          </a:bodyPr>
          <a:lstStyle/>
          <a:p>
            <a:r>
              <a:rPr lang="en-US" dirty="0"/>
              <a:t>Word Press Plugin- Google Product Pro</a:t>
            </a:r>
          </a:p>
        </p:txBody>
      </p:sp>
      <p:sp>
        <p:nvSpPr>
          <p:cNvPr id="4" name="TextBox 3">
            <a:extLst>
              <a:ext uri="{FF2B5EF4-FFF2-40B4-BE49-F238E27FC236}">
                <a16:creationId xmlns:a16="http://schemas.microsoft.com/office/drawing/2014/main" id="{BFB563D8-47AB-C656-E253-0D18B094155C}"/>
              </a:ext>
            </a:extLst>
          </p:cNvPr>
          <p:cNvSpPr txBox="1"/>
          <p:nvPr/>
        </p:nvSpPr>
        <p:spPr>
          <a:xfrm>
            <a:off x="678730" y="2564904"/>
            <a:ext cx="8003232" cy="3139321"/>
          </a:xfrm>
          <a:prstGeom prst="rect">
            <a:avLst/>
          </a:prstGeom>
          <a:noFill/>
        </p:spPr>
        <p:txBody>
          <a:bodyPr wrap="square">
            <a:spAutoFit/>
          </a:bodyPr>
          <a:lstStyle/>
          <a:p>
            <a:pPr algn="l" fontAlgn="base"/>
            <a:r>
              <a:rPr lang="en-US" b="1" i="0" dirty="0">
                <a:solidFill>
                  <a:srgbClr val="0C6928"/>
                </a:solidFill>
                <a:effectLst/>
                <a:latin typeface="-apple-system"/>
              </a:rPr>
              <a:t>What is a Product Feed?</a:t>
            </a:r>
          </a:p>
          <a:p>
            <a:pPr algn="l" fontAlgn="base"/>
            <a:r>
              <a:rPr lang="en-US" b="0" i="0" dirty="0">
                <a:solidFill>
                  <a:srgbClr val="4B4F58"/>
                </a:solidFill>
                <a:effectLst/>
                <a:latin typeface="-apple-system"/>
              </a:rPr>
              <a:t>A product feed is simply a file that is made up of a list of products and attributes of those products. All of the products in a shopping feed are organized so that each can be displayed, advertised, or compared in a unique way. </a:t>
            </a:r>
          </a:p>
          <a:p>
            <a:pPr algn="l" fontAlgn="base"/>
            <a:r>
              <a:rPr lang="en-US" b="0" i="0" dirty="0">
                <a:solidFill>
                  <a:srgbClr val="4B4F58"/>
                </a:solidFill>
                <a:effectLst/>
                <a:latin typeface="-apple-system"/>
              </a:rPr>
              <a:t>There are several items that are displayed in most (if not all) product feeds. They include things like the product image, the title of the product, identifiers, marketing copy, and </a:t>
            </a:r>
            <a:r>
              <a:rPr lang="en-US" b="0" i="0" u="sng" dirty="0">
                <a:solidFill>
                  <a:srgbClr val="1B6240"/>
                </a:solidFill>
                <a:effectLst/>
                <a:latin typeface="-apple-system"/>
                <a:hlinkClick r:id="rId2"/>
              </a:rPr>
              <a:t>product attributes</a:t>
            </a:r>
            <a:r>
              <a:rPr lang="en-US" b="0" i="0" dirty="0">
                <a:solidFill>
                  <a:srgbClr val="4B4F58"/>
                </a:solidFill>
                <a:effectLst/>
                <a:latin typeface="-apple-system"/>
              </a:rPr>
              <a:t>.</a:t>
            </a:r>
          </a:p>
          <a:p>
            <a:pPr algn="l" fontAlgn="base"/>
            <a:r>
              <a:rPr lang="en-US" b="0" i="0" dirty="0">
                <a:solidFill>
                  <a:srgbClr val="4B4F58"/>
                </a:solidFill>
                <a:effectLst/>
                <a:latin typeface="-apple-system"/>
              </a:rPr>
              <a:t>Today, I am going to show you how to use a smooth plugin in conjunction with </a:t>
            </a:r>
            <a:r>
              <a:rPr lang="en-US" b="0" i="0" u="sng" dirty="0">
                <a:solidFill>
                  <a:srgbClr val="1B6240"/>
                </a:solidFill>
                <a:effectLst/>
                <a:latin typeface="-apple-system"/>
                <a:hlinkClick r:id="rId3"/>
              </a:rPr>
              <a:t>WooCommerce</a:t>
            </a:r>
            <a:r>
              <a:rPr lang="en-US" b="0" i="0" dirty="0">
                <a:solidFill>
                  <a:srgbClr val="4B4F58"/>
                </a:solidFill>
                <a:effectLst/>
                <a:latin typeface="-apple-system"/>
              </a:rPr>
              <a:t> that allows you to quickly and easily build multiple product feeds.</a:t>
            </a:r>
          </a:p>
          <a:p>
            <a:pPr algn="l" fontAlgn="base"/>
            <a:r>
              <a:rPr lang="en-US" b="0" i="0" dirty="0">
                <a:solidFill>
                  <a:srgbClr val="4B4F58"/>
                </a:solidFill>
                <a:effectLst/>
                <a:latin typeface="-apple-system"/>
              </a:rPr>
              <a:t>Let’s take a look at the plugin in question and see all it has to offer.</a:t>
            </a:r>
          </a:p>
        </p:txBody>
      </p:sp>
    </p:spTree>
    <p:extLst>
      <p:ext uri="{BB962C8B-B14F-4D97-AF65-F5344CB8AC3E}">
        <p14:creationId xmlns:p14="http://schemas.microsoft.com/office/powerpoint/2010/main" val="420812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60648"/>
            <a:ext cx="5770984" cy="1872208"/>
          </a:xfrm>
        </p:spPr>
        <p:txBody>
          <a:bodyPr>
            <a:normAutofit/>
          </a:bodyPr>
          <a:lstStyle/>
          <a:p>
            <a:r>
              <a:rPr lang="en-US" dirty="0"/>
              <a:t>Word Press Plugin- Google Product Pro</a:t>
            </a:r>
          </a:p>
        </p:txBody>
      </p:sp>
      <p:sp>
        <p:nvSpPr>
          <p:cNvPr id="4" name="TextBox 3">
            <a:extLst>
              <a:ext uri="{FF2B5EF4-FFF2-40B4-BE49-F238E27FC236}">
                <a16:creationId xmlns:a16="http://schemas.microsoft.com/office/drawing/2014/main" id="{BFB563D8-47AB-C656-E253-0D18B094155C}"/>
              </a:ext>
            </a:extLst>
          </p:cNvPr>
          <p:cNvSpPr txBox="1"/>
          <p:nvPr/>
        </p:nvSpPr>
        <p:spPr>
          <a:xfrm>
            <a:off x="570384" y="2132856"/>
            <a:ext cx="8003232" cy="2308324"/>
          </a:xfrm>
          <a:prstGeom prst="rect">
            <a:avLst/>
          </a:prstGeom>
          <a:noFill/>
        </p:spPr>
        <p:txBody>
          <a:bodyPr wrap="square">
            <a:spAutoFit/>
          </a:bodyPr>
          <a:lstStyle/>
          <a:p>
            <a:pPr fontAlgn="base"/>
            <a:r>
              <a:rPr lang="en-US" b="1" i="0" dirty="0">
                <a:effectLst/>
                <a:latin typeface="-apple-system"/>
              </a:rPr>
              <a:t>Step 1: Install and Activate the Plugin</a:t>
            </a:r>
          </a:p>
          <a:p>
            <a:pPr fontAlgn="base"/>
            <a:endParaRPr lang="en-US" b="1" dirty="0">
              <a:latin typeface="-apple-system"/>
            </a:endParaRPr>
          </a:p>
          <a:p>
            <a:pPr algn="l" fontAlgn="base"/>
            <a:r>
              <a:rPr lang="en-US" b="0" i="0" dirty="0">
                <a:solidFill>
                  <a:srgbClr val="4B4F58"/>
                </a:solidFill>
                <a:effectLst/>
                <a:latin typeface="-apple-system"/>
              </a:rPr>
              <a:t>Before you can start using Product Feed PRO for WooCommerce, you first need to </a:t>
            </a:r>
            <a:r>
              <a:rPr lang="en-US" b="0" i="0" u="sng" dirty="0">
                <a:solidFill>
                  <a:srgbClr val="1B6240"/>
                </a:solidFill>
                <a:effectLst/>
                <a:latin typeface="-apple-system"/>
                <a:hlinkClick r:id="rId2"/>
              </a:rPr>
              <a:t>install and activate</a:t>
            </a:r>
            <a:r>
              <a:rPr lang="en-US" b="0" i="0" dirty="0">
                <a:solidFill>
                  <a:srgbClr val="4B4F58"/>
                </a:solidFill>
                <a:effectLst/>
                <a:latin typeface="-apple-system"/>
              </a:rPr>
              <a:t> the plugin. You can easily do this by jumping over to the Plugins page in the WordPress admin dashboard.</a:t>
            </a:r>
          </a:p>
          <a:p>
            <a:pPr algn="l" fontAlgn="base"/>
            <a:r>
              <a:rPr lang="en-US" b="0" i="0" dirty="0">
                <a:solidFill>
                  <a:srgbClr val="4B4F58"/>
                </a:solidFill>
                <a:effectLst/>
                <a:latin typeface="-apple-system"/>
              </a:rPr>
              <a:t>Simply use the available search field to search for the plugin by name.</a:t>
            </a:r>
          </a:p>
          <a:p>
            <a:pPr fontAlgn="base"/>
            <a:r>
              <a:rPr lang="en-US" b="1" i="0" dirty="0">
                <a:effectLst/>
                <a:latin typeface="-apple-system"/>
              </a:rPr>
              <a:t> </a:t>
            </a:r>
          </a:p>
          <a:p>
            <a:pPr algn="l" fontAlgn="base"/>
            <a:endParaRPr lang="en-US" b="0" i="0" dirty="0">
              <a:solidFill>
                <a:srgbClr val="4B4F58"/>
              </a:solidFill>
              <a:effectLst/>
              <a:latin typeface="-apple-system"/>
            </a:endParaRPr>
          </a:p>
        </p:txBody>
      </p:sp>
      <p:pic>
        <p:nvPicPr>
          <p:cNvPr id="1026" name="Picture 2" descr="Install and activate product feed pro">
            <a:extLst>
              <a:ext uri="{FF2B5EF4-FFF2-40B4-BE49-F238E27FC236}">
                <a16:creationId xmlns:a16="http://schemas.microsoft.com/office/drawing/2014/main" id="{47EAC09C-DD4E-9024-A4E5-FC89E9F81F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0384" y="4099976"/>
            <a:ext cx="3713584" cy="16537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1D7146C-420F-7724-E6FB-8F024D52EC9A}"/>
              </a:ext>
            </a:extLst>
          </p:cNvPr>
          <p:cNvSpPr txBox="1"/>
          <p:nvPr/>
        </p:nvSpPr>
        <p:spPr>
          <a:xfrm>
            <a:off x="581076" y="5997187"/>
            <a:ext cx="4572000" cy="1200329"/>
          </a:xfrm>
          <a:prstGeom prst="rect">
            <a:avLst/>
          </a:prstGeom>
          <a:noFill/>
        </p:spPr>
        <p:txBody>
          <a:bodyPr wrap="square">
            <a:spAutoFit/>
          </a:bodyPr>
          <a:lstStyle/>
          <a:p>
            <a:pPr algn="l" fontAlgn="base"/>
            <a:r>
              <a:rPr lang="en-US" b="0" i="0" dirty="0">
                <a:solidFill>
                  <a:srgbClr val="4B4F58"/>
                </a:solidFill>
                <a:effectLst/>
                <a:latin typeface="-apple-system"/>
              </a:rPr>
              <a:t>When you see it pop up, install and activate it right from there.</a:t>
            </a:r>
          </a:p>
          <a:p>
            <a:br>
              <a:rPr lang="en-US" dirty="0"/>
            </a:br>
            <a:endParaRPr lang="en-IN" dirty="0"/>
          </a:p>
        </p:txBody>
      </p:sp>
    </p:spTree>
    <p:extLst>
      <p:ext uri="{BB962C8B-B14F-4D97-AF65-F5344CB8AC3E}">
        <p14:creationId xmlns:p14="http://schemas.microsoft.com/office/powerpoint/2010/main" val="4290939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05C5BC5-1EB0-341E-6308-D7EECC8C72CE}"/>
              </a:ext>
            </a:extLst>
          </p:cNvPr>
          <p:cNvSpPr txBox="1"/>
          <p:nvPr/>
        </p:nvSpPr>
        <p:spPr>
          <a:xfrm>
            <a:off x="23136" y="1124744"/>
            <a:ext cx="7357176" cy="3139321"/>
          </a:xfrm>
          <a:prstGeom prst="rect">
            <a:avLst/>
          </a:prstGeom>
          <a:noFill/>
        </p:spPr>
        <p:txBody>
          <a:bodyPr wrap="square">
            <a:spAutoFit/>
          </a:bodyPr>
          <a:lstStyle/>
          <a:p>
            <a:pPr fontAlgn="base"/>
            <a:r>
              <a:rPr lang="en-US" b="1" i="0" dirty="0">
                <a:effectLst/>
                <a:latin typeface="-apple-system"/>
              </a:rPr>
              <a:t>Step 2: </a:t>
            </a:r>
            <a:r>
              <a:rPr lang="en-IN" b="1" i="0" dirty="0">
                <a:effectLst/>
                <a:latin typeface="-apple-system"/>
              </a:rPr>
              <a:t>Create a Product Feed</a:t>
            </a:r>
          </a:p>
          <a:p>
            <a:pPr fontAlgn="base"/>
            <a:endParaRPr lang="en-US" b="1" i="0" dirty="0">
              <a:effectLst/>
              <a:latin typeface="-apple-system"/>
            </a:endParaRPr>
          </a:p>
          <a:p>
            <a:pPr fontAlgn="base"/>
            <a:endParaRPr lang="en-US" b="1" dirty="0">
              <a:latin typeface="-apple-system"/>
            </a:endParaRPr>
          </a:p>
          <a:p>
            <a:pPr algn="l" fontAlgn="base"/>
            <a:r>
              <a:rPr lang="en-US" b="0" i="0" dirty="0">
                <a:solidFill>
                  <a:srgbClr val="4B4F58"/>
                </a:solidFill>
                <a:effectLst/>
                <a:latin typeface="-apple-system"/>
              </a:rPr>
              <a:t>Plugin settings are in-place according to how you want. Now, you can go create your first product feed.</a:t>
            </a:r>
          </a:p>
          <a:p>
            <a:pPr algn="l" fontAlgn="base"/>
            <a:r>
              <a:rPr lang="en-US" b="0" i="0" dirty="0">
                <a:solidFill>
                  <a:srgbClr val="4B4F58"/>
                </a:solidFill>
                <a:effectLst/>
                <a:latin typeface="-apple-system"/>
              </a:rPr>
              <a:t>Click on the “Create Feed” link located under the main Product Feed PRO menu item.</a:t>
            </a:r>
          </a:p>
          <a:p>
            <a:pPr algn="l" fontAlgn="base"/>
            <a:endParaRPr lang="en-US" dirty="0">
              <a:solidFill>
                <a:srgbClr val="4B4F58"/>
              </a:solidFill>
              <a:latin typeface="-apple-system"/>
            </a:endParaRPr>
          </a:p>
          <a:p>
            <a:pPr algn="l" fontAlgn="base"/>
            <a:endParaRPr lang="en-US" b="0" i="0" dirty="0">
              <a:solidFill>
                <a:srgbClr val="4B4F58"/>
              </a:solidFill>
              <a:effectLst/>
              <a:latin typeface="-apple-system"/>
            </a:endParaRPr>
          </a:p>
          <a:p>
            <a:pPr fontAlgn="base"/>
            <a:r>
              <a:rPr lang="en-US" b="1" i="0" dirty="0">
                <a:effectLst/>
                <a:latin typeface="-apple-system"/>
              </a:rPr>
              <a:t> </a:t>
            </a:r>
          </a:p>
          <a:p>
            <a:pPr algn="l" fontAlgn="base"/>
            <a:endParaRPr lang="en-US" b="0" i="0" dirty="0">
              <a:solidFill>
                <a:srgbClr val="4B4F58"/>
              </a:solidFill>
              <a:effectLst/>
              <a:latin typeface="-apple-system"/>
            </a:endParaRPr>
          </a:p>
        </p:txBody>
      </p:sp>
      <p:pic>
        <p:nvPicPr>
          <p:cNvPr id="2052" name="Picture 4" descr="Click on the create feed link">
            <a:extLst>
              <a:ext uri="{FF2B5EF4-FFF2-40B4-BE49-F238E27FC236}">
                <a16:creationId xmlns:a16="http://schemas.microsoft.com/office/drawing/2014/main" id="{87895744-3CA5-BD6D-B225-E997066E7B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36" y="3489804"/>
            <a:ext cx="3816424" cy="169950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B34BEE1-7D8A-0622-B717-911726959FFA}"/>
              </a:ext>
            </a:extLst>
          </p:cNvPr>
          <p:cNvSpPr txBox="1"/>
          <p:nvPr/>
        </p:nvSpPr>
        <p:spPr>
          <a:xfrm>
            <a:off x="3718437" y="3248402"/>
            <a:ext cx="4595566" cy="2031325"/>
          </a:xfrm>
          <a:prstGeom prst="rect">
            <a:avLst/>
          </a:prstGeom>
          <a:noFill/>
        </p:spPr>
        <p:txBody>
          <a:bodyPr wrap="square">
            <a:spAutoFit/>
          </a:bodyPr>
          <a:lstStyle/>
          <a:p>
            <a:pPr algn="l" fontAlgn="base"/>
            <a:r>
              <a:rPr lang="en-US" b="0" i="0" dirty="0">
                <a:solidFill>
                  <a:srgbClr val="4B4F58"/>
                </a:solidFill>
                <a:effectLst/>
                <a:latin typeface="-apple-system"/>
              </a:rPr>
              <a:t>Go ahead and fill in all of the general feed settings. This includes creating a name for your project (feed), deciding on a country and a channel from the dropdown, and choosing a file format and refresh interval time.</a:t>
            </a:r>
          </a:p>
          <a:p>
            <a:br>
              <a:rPr lang="en-US" dirty="0"/>
            </a:br>
            <a:endParaRPr lang="en-IN" dirty="0"/>
          </a:p>
        </p:txBody>
      </p:sp>
    </p:spTree>
    <p:extLst>
      <p:ext uri="{BB962C8B-B14F-4D97-AF65-F5344CB8AC3E}">
        <p14:creationId xmlns:p14="http://schemas.microsoft.com/office/powerpoint/2010/main" val="367513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60648"/>
            <a:ext cx="6059016" cy="1754326"/>
          </a:xfrm>
        </p:spPr>
        <p:txBody>
          <a:bodyPr>
            <a:normAutofit/>
          </a:bodyPr>
          <a:lstStyle/>
          <a:p>
            <a:r>
              <a:rPr lang="en-US" dirty="0"/>
              <a:t>Word Press Plugin- Google Product Pro</a:t>
            </a:r>
          </a:p>
        </p:txBody>
      </p:sp>
      <p:sp>
        <p:nvSpPr>
          <p:cNvPr id="4" name="TextBox 3">
            <a:extLst>
              <a:ext uri="{FF2B5EF4-FFF2-40B4-BE49-F238E27FC236}">
                <a16:creationId xmlns:a16="http://schemas.microsoft.com/office/drawing/2014/main" id="{E940B76A-3BD5-8CE5-7844-285D1C417401}"/>
              </a:ext>
            </a:extLst>
          </p:cNvPr>
          <p:cNvSpPr txBox="1"/>
          <p:nvPr/>
        </p:nvSpPr>
        <p:spPr>
          <a:xfrm>
            <a:off x="323528" y="2204864"/>
            <a:ext cx="6606480" cy="1754326"/>
          </a:xfrm>
          <a:prstGeom prst="rect">
            <a:avLst/>
          </a:prstGeom>
          <a:noFill/>
        </p:spPr>
        <p:txBody>
          <a:bodyPr wrap="square">
            <a:spAutoFit/>
          </a:bodyPr>
          <a:lstStyle/>
          <a:p>
            <a:pPr algn="l" fontAlgn="base"/>
            <a:r>
              <a:rPr lang="en-US" b="0" i="0" dirty="0">
                <a:solidFill>
                  <a:srgbClr val="4B4F58"/>
                </a:solidFill>
                <a:effectLst/>
                <a:latin typeface="-apple-system"/>
              </a:rPr>
              <a:t>Go ahead and fill in all of the general feed settings. This includes creating a name for your project (feed), deciding on a country and a channel from the dropdown, and choosing a file format and refresh interval time.</a:t>
            </a:r>
          </a:p>
          <a:p>
            <a:br>
              <a:rPr lang="en-US" dirty="0"/>
            </a:br>
            <a:endParaRPr lang="en-IN" dirty="0"/>
          </a:p>
        </p:txBody>
      </p:sp>
      <p:pic>
        <p:nvPicPr>
          <p:cNvPr id="3074" name="Picture 2" descr="Feed Settings">
            <a:extLst>
              <a:ext uri="{FF2B5EF4-FFF2-40B4-BE49-F238E27FC236}">
                <a16:creationId xmlns:a16="http://schemas.microsoft.com/office/drawing/2014/main" id="{B9915310-D149-75F0-463E-68691D178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663" y="3501008"/>
            <a:ext cx="6228184" cy="2773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477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E745BF-EB54-DCBF-255C-9E4FA30274F8}"/>
              </a:ext>
            </a:extLst>
          </p:cNvPr>
          <p:cNvSpPr txBox="1"/>
          <p:nvPr/>
        </p:nvSpPr>
        <p:spPr>
          <a:xfrm>
            <a:off x="308164" y="764704"/>
            <a:ext cx="4572000" cy="1200329"/>
          </a:xfrm>
          <a:prstGeom prst="rect">
            <a:avLst/>
          </a:prstGeom>
          <a:noFill/>
        </p:spPr>
        <p:txBody>
          <a:bodyPr wrap="square">
            <a:spAutoFit/>
          </a:bodyPr>
          <a:lstStyle/>
          <a:p>
            <a:pPr algn="l" fontAlgn="base"/>
            <a:r>
              <a:rPr lang="en-US" b="0" i="0" dirty="0">
                <a:solidFill>
                  <a:srgbClr val="4B4F58"/>
                </a:solidFill>
                <a:effectLst/>
                <a:latin typeface="-apple-system"/>
              </a:rPr>
              <a:t>Here are just some of the different feeds you can choose from.</a:t>
            </a:r>
          </a:p>
          <a:p>
            <a:br>
              <a:rPr lang="en-US" dirty="0"/>
            </a:br>
            <a:endParaRPr lang="en-IN" dirty="0"/>
          </a:p>
        </p:txBody>
      </p:sp>
      <p:pic>
        <p:nvPicPr>
          <p:cNvPr id="4098" name="Picture 2" descr="Marketing Channel Feeds">
            <a:extLst>
              <a:ext uri="{FF2B5EF4-FFF2-40B4-BE49-F238E27FC236}">
                <a16:creationId xmlns:a16="http://schemas.microsoft.com/office/drawing/2014/main" id="{699E8FDC-09DC-8A5E-D66A-18B3AA5D2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36" y="1772816"/>
            <a:ext cx="6156176" cy="274142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717054F-66BC-F17B-36DC-6F4B528AF242}"/>
              </a:ext>
            </a:extLst>
          </p:cNvPr>
          <p:cNvSpPr txBox="1"/>
          <p:nvPr/>
        </p:nvSpPr>
        <p:spPr>
          <a:xfrm>
            <a:off x="308164" y="4653136"/>
            <a:ext cx="4572000" cy="1200329"/>
          </a:xfrm>
          <a:prstGeom prst="rect">
            <a:avLst/>
          </a:prstGeom>
          <a:noFill/>
        </p:spPr>
        <p:txBody>
          <a:bodyPr wrap="square">
            <a:spAutoFit/>
          </a:bodyPr>
          <a:lstStyle/>
          <a:p>
            <a:pPr algn="l" fontAlgn="base"/>
            <a:r>
              <a:rPr lang="en-US" b="0" i="0" dirty="0">
                <a:solidFill>
                  <a:srgbClr val="4B4F58"/>
                </a:solidFill>
                <a:effectLst/>
                <a:latin typeface="-apple-system"/>
              </a:rPr>
              <a:t>Once you are ready, click on the “Save and Continue” button.</a:t>
            </a:r>
          </a:p>
          <a:p>
            <a:br>
              <a:rPr lang="en-US" dirty="0"/>
            </a:br>
            <a:endParaRPr lang="en-IN" dirty="0"/>
          </a:p>
        </p:txBody>
      </p:sp>
    </p:spTree>
    <p:extLst>
      <p:ext uri="{BB962C8B-B14F-4D97-AF65-F5344CB8AC3E}">
        <p14:creationId xmlns:p14="http://schemas.microsoft.com/office/powerpoint/2010/main" val="2551531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938B50-D3BD-34F5-7085-28D0A16AF85D}"/>
              </a:ext>
            </a:extLst>
          </p:cNvPr>
          <p:cNvSpPr txBox="1"/>
          <p:nvPr/>
        </p:nvSpPr>
        <p:spPr>
          <a:xfrm>
            <a:off x="232513" y="764704"/>
            <a:ext cx="4572000" cy="369332"/>
          </a:xfrm>
          <a:prstGeom prst="rect">
            <a:avLst/>
          </a:prstGeom>
          <a:noFill/>
        </p:spPr>
        <p:txBody>
          <a:bodyPr wrap="square">
            <a:spAutoFit/>
          </a:bodyPr>
          <a:lstStyle/>
          <a:p>
            <a:pPr fontAlgn="base"/>
            <a:r>
              <a:rPr lang="en-US" b="1" i="0" dirty="0">
                <a:effectLst/>
                <a:latin typeface="-apple-system"/>
              </a:rPr>
              <a:t>Step 2: </a:t>
            </a:r>
            <a:r>
              <a:rPr lang="en-IN" b="1" i="0" dirty="0">
                <a:effectLst/>
                <a:latin typeface="-apple-system"/>
              </a:rPr>
              <a:t>Add Field Mapping</a:t>
            </a:r>
          </a:p>
        </p:txBody>
      </p:sp>
      <p:sp>
        <p:nvSpPr>
          <p:cNvPr id="8" name="TextBox 7">
            <a:extLst>
              <a:ext uri="{FF2B5EF4-FFF2-40B4-BE49-F238E27FC236}">
                <a16:creationId xmlns:a16="http://schemas.microsoft.com/office/drawing/2014/main" id="{973DCCD2-C9BD-3E47-0BB7-4EAAABE001D4}"/>
              </a:ext>
            </a:extLst>
          </p:cNvPr>
          <p:cNvSpPr txBox="1"/>
          <p:nvPr/>
        </p:nvSpPr>
        <p:spPr>
          <a:xfrm>
            <a:off x="179512" y="1377791"/>
            <a:ext cx="8784976" cy="646331"/>
          </a:xfrm>
          <a:prstGeom prst="rect">
            <a:avLst/>
          </a:prstGeom>
          <a:noFill/>
        </p:spPr>
        <p:txBody>
          <a:bodyPr wrap="square">
            <a:spAutoFit/>
          </a:bodyPr>
          <a:lstStyle/>
          <a:p>
            <a:r>
              <a:rPr lang="en-US" b="0" i="0" dirty="0">
                <a:solidFill>
                  <a:srgbClr val="4B4F58"/>
                </a:solidFill>
                <a:effectLst/>
                <a:latin typeface="-apple-system"/>
              </a:rPr>
              <a:t>This page is full of all the field mapping fields available in Google Shopping. Go ahead and fill them all out however you want your products displayed in the product feed.</a:t>
            </a:r>
            <a:endParaRPr lang="en-IN" dirty="0"/>
          </a:p>
        </p:txBody>
      </p:sp>
      <p:pic>
        <p:nvPicPr>
          <p:cNvPr id="5122" name="Picture 2" descr="Field Mapping">
            <a:extLst>
              <a:ext uri="{FF2B5EF4-FFF2-40B4-BE49-F238E27FC236}">
                <a16:creationId xmlns:a16="http://schemas.microsoft.com/office/drawing/2014/main" id="{01C8F54A-77EE-46D4-C078-EC30DBA467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513" y="2413118"/>
            <a:ext cx="5436096" cy="242076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159CD7F-1FAC-AF23-0E4C-5C187558481F}"/>
              </a:ext>
            </a:extLst>
          </p:cNvPr>
          <p:cNvSpPr txBox="1"/>
          <p:nvPr/>
        </p:nvSpPr>
        <p:spPr>
          <a:xfrm>
            <a:off x="232513" y="5018544"/>
            <a:ext cx="8579060" cy="923330"/>
          </a:xfrm>
          <a:prstGeom prst="rect">
            <a:avLst/>
          </a:prstGeom>
          <a:noFill/>
        </p:spPr>
        <p:txBody>
          <a:bodyPr wrap="square">
            <a:spAutoFit/>
          </a:bodyPr>
          <a:lstStyle/>
          <a:p>
            <a:r>
              <a:rPr lang="en-US" b="0" i="0" dirty="0">
                <a:solidFill>
                  <a:srgbClr val="4B4F58"/>
                </a:solidFill>
                <a:effectLst/>
                <a:latin typeface="-apple-system"/>
              </a:rPr>
              <a:t>At the bottom of the page, you will notice the buttons for adding field mapping, adding </a:t>
            </a:r>
            <a:r>
              <a:rPr lang="en-US" b="0" i="0" u="sng" dirty="0">
                <a:solidFill>
                  <a:srgbClr val="1B6240"/>
                </a:solidFill>
                <a:effectLst/>
                <a:latin typeface="-apple-system"/>
                <a:hlinkClick r:id="rId3"/>
              </a:rPr>
              <a:t>custom fields</a:t>
            </a:r>
            <a:r>
              <a:rPr lang="en-US" b="0" i="0" dirty="0">
                <a:solidFill>
                  <a:srgbClr val="4B4F58"/>
                </a:solidFill>
                <a:effectLst/>
                <a:latin typeface="-apple-system"/>
              </a:rPr>
              <a:t>, or “Save.” Finish up what you need to do and click on the “Save” button.</a:t>
            </a:r>
            <a:endParaRPr lang="en-IN" dirty="0"/>
          </a:p>
        </p:txBody>
      </p:sp>
    </p:spTree>
    <p:extLst>
      <p:ext uri="{BB962C8B-B14F-4D97-AF65-F5344CB8AC3E}">
        <p14:creationId xmlns:p14="http://schemas.microsoft.com/office/powerpoint/2010/main" val="224730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9512" y="548496"/>
            <a:ext cx="6779096" cy="820680"/>
          </a:xfrm>
        </p:spPr>
        <p:txBody>
          <a:bodyPr>
            <a:normAutofit fontScale="90000"/>
          </a:bodyPr>
          <a:lstStyle/>
          <a:p>
            <a:pPr algn="l"/>
            <a:r>
              <a:rPr lang="en-US" dirty="0"/>
              <a:t>Word Press Plugin- Google Product Pro</a:t>
            </a:r>
          </a:p>
        </p:txBody>
      </p:sp>
      <p:sp>
        <p:nvSpPr>
          <p:cNvPr id="10" name="TextBox 9">
            <a:extLst>
              <a:ext uri="{FF2B5EF4-FFF2-40B4-BE49-F238E27FC236}">
                <a16:creationId xmlns:a16="http://schemas.microsoft.com/office/drawing/2014/main" id="{C159CD7F-1FAC-AF23-0E4C-5C187558481F}"/>
              </a:ext>
            </a:extLst>
          </p:cNvPr>
          <p:cNvSpPr txBox="1"/>
          <p:nvPr/>
        </p:nvSpPr>
        <p:spPr>
          <a:xfrm>
            <a:off x="282470" y="2607295"/>
            <a:ext cx="8579060" cy="923330"/>
          </a:xfrm>
          <a:prstGeom prst="rect">
            <a:avLst/>
          </a:prstGeom>
          <a:noFill/>
        </p:spPr>
        <p:txBody>
          <a:bodyPr wrap="square">
            <a:spAutoFit/>
          </a:bodyPr>
          <a:lstStyle/>
          <a:p>
            <a:r>
              <a:rPr lang="en-US" b="0" i="0" dirty="0">
                <a:solidFill>
                  <a:srgbClr val="4B4F58"/>
                </a:solidFill>
                <a:effectLst/>
                <a:latin typeface="-apple-system"/>
              </a:rPr>
              <a:t>At the bottom of the page, you will notice the buttons for adding field mapping, adding </a:t>
            </a:r>
            <a:r>
              <a:rPr lang="en-US" b="0" i="0" u="sng" dirty="0">
                <a:solidFill>
                  <a:srgbClr val="1B6240"/>
                </a:solidFill>
                <a:effectLst/>
                <a:latin typeface="-apple-system"/>
              </a:rPr>
              <a:t>custom fields</a:t>
            </a:r>
            <a:r>
              <a:rPr lang="en-US" b="0" i="0" dirty="0">
                <a:solidFill>
                  <a:srgbClr val="4B4F58"/>
                </a:solidFill>
                <a:effectLst/>
                <a:latin typeface="-apple-system"/>
              </a:rPr>
              <a:t>, or “Save.” Finish up what you need to do and click on the “Save” button.</a:t>
            </a:r>
            <a:endParaRPr lang="en-IN" dirty="0"/>
          </a:p>
        </p:txBody>
      </p:sp>
      <p:pic>
        <p:nvPicPr>
          <p:cNvPr id="6146" name="Picture 2">
            <a:extLst>
              <a:ext uri="{FF2B5EF4-FFF2-40B4-BE49-F238E27FC236}">
                <a16:creationId xmlns:a16="http://schemas.microsoft.com/office/drawing/2014/main" id="{B74547D3-28AA-F382-EDD1-D5642E44BB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789040"/>
            <a:ext cx="6156176" cy="2741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639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548680"/>
            <a:ext cx="6760840" cy="964696"/>
          </a:xfrm>
        </p:spPr>
        <p:txBody>
          <a:bodyPr>
            <a:normAutofit fontScale="90000"/>
          </a:bodyPr>
          <a:lstStyle/>
          <a:p>
            <a:r>
              <a:rPr lang="en-US" sz="3200" dirty="0"/>
              <a:t>Word Press Plugin- Google Product Feed Pro</a:t>
            </a:r>
          </a:p>
        </p:txBody>
      </p:sp>
      <p:sp>
        <p:nvSpPr>
          <p:cNvPr id="4" name="TextBox 3">
            <a:extLst>
              <a:ext uri="{FF2B5EF4-FFF2-40B4-BE49-F238E27FC236}">
                <a16:creationId xmlns:a16="http://schemas.microsoft.com/office/drawing/2014/main" id="{976FE9C1-5B8D-538A-D090-BA0F0916EC82}"/>
              </a:ext>
            </a:extLst>
          </p:cNvPr>
          <p:cNvSpPr txBox="1"/>
          <p:nvPr/>
        </p:nvSpPr>
        <p:spPr>
          <a:xfrm>
            <a:off x="323528" y="2194655"/>
            <a:ext cx="6894512" cy="1200329"/>
          </a:xfrm>
          <a:prstGeom prst="rect">
            <a:avLst/>
          </a:prstGeom>
          <a:noFill/>
        </p:spPr>
        <p:txBody>
          <a:bodyPr wrap="square">
            <a:spAutoFit/>
          </a:bodyPr>
          <a:lstStyle/>
          <a:p>
            <a:pPr algn="l" fontAlgn="base"/>
            <a:r>
              <a:rPr lang="en-US" b="1" i="0" dirty="0">
                <a:effectLst/>
                <a:latin typeface="-apple-system"/>
              </a:rPr>
              <a:t>Step 4: Add Category Mapping</a:t>
            </a:r>
          </a:p>
          <a:p>
            <a:pPr algn="l" fontAlgn="base"/>
            <a:r>
              <a:rPr lang="en-US" b="0" i="0" dirty="0">
                <a:solidFill>
                  <a:srgbClr val="4B4F58"/>
                </a:solidFill>
                <a:effectLst/>
                <a:latin typeface="-apple-system"/>
              </a:rPr>
              <a:t>This takes you to the “Category Mapping” page. This will show items based on what you filled out above. Choose a Google Shopping Category and click on the “Save Mappings” button.</a:t>
            </a:r>
          </a:p>
        </p:txBody>
      </p:sp>
      <p:pic>
        <p:nvPicPr>
          <p:cNvPr id="7170" name="Picture 2" descr="Category mapping">
            <a:extLst>
              <a:ext uri="{FF2B5EF4-FFF2-40B4-BE49-F238E27FC236}">
                <a16:creationId xmlns:a16="http://schemas.microsoft.com/office/drawing/2014/main" id="{C0505FCF-378B-CCAE-A0E9-467DD0C06C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3573016"/>
            <a:ext cx="5399584" cy="2404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00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620688"/>
            <a:ext cx="6491064" cy="892688"/>
          </a:xfrm>
        </p:spPr>
        <p:txBody>
          <a:bodyPr>
            <a:normAutofit fontScale="90000"/>
          </a:bodyPr>
          <a:lstStyle/>
          <a:p>
            <a:pPr algn="l"/>
            <a:r>
              <a:rPr lang="en-US" sz="2900" dirty="0"/>
              <a:t>Word Press Plugin- Google Product Feed Pro</a:t>
            </a:r>
          </a:p>
        </p:txBody>
      </p:sp>
      <p:sp>
        <p:nvSpPr>
          <p:cNvPr id="4" name="TextBox 3">
            <a:extLst>
              <a:ext uri="{FF2B5EF4-FFF2-40B4-BE49-F238E27FC236}">
                <a16:creationId xmlns:a16="http://schemas.microsoft.com/office/drawing/2014/main" id="{976FE9C1-5B8D-538A-D090-BA0F0916EC82}"/>
              </a:ext>
            </a:extLst>
          </p:cNvPr>
          <p:cNvSpPr txBox="1"/>
          <p:nvPr/>
        </p:nvSpPr>
        <p:spPr>
          <a:xfrm>
            <a:off x="344842" y="2195448"/>
            <a:ext cx="6894512" cy="1477328"/>
          </a:xfrm>
          <a:prstGeom prst="rect">
            <a:avLst/>
          </a:prstGeom>
          <a:noFill/>
        </p:spPr>
        <p:txBody>
          <a:bodyPr wrap="square">
            <a:spAutoFit/>
          </a:bodyPr>
          <a:lstStyle/>
          <a:p>
            <a:pPr algn="l" fontAlgn="base"/>
            <a:r>
              <a:rPr lang="en-US" b="1" i="0" dirty="0">
                <a:effectLst/>
                <a:latin typeface="-apple-system"/>
              </a:rPr>
              <a:t>Step </a:t>
            </a:r>
            <a:r>
              <a:rPr lang="en-US" b="1" dirty="0">
                <a:latin typeface="-apple-system"/>
              </a:rPr>
              <a:t>5</a:t>
            </a:r>
            <a:r>
              <a:rPr lang="en-US" b="1" i="0" dirty="0">
                <a:effectLst/>
                <a:latin typeface="-apple-system"/>
              </a:rPr>
              <a:t>: Customize Feed Filters and Rules</a:t>
            </a:r>
          </a:p>
          <a:p>
            <a:pPr algn="l" fontAlgn="base"/>
            <a:r>
              <a:rPr lang="en-US" b="0" i="0" dirty="0">
                <a:solidFill>
                  <a:srgbClr val="4B4F58"/>
                </a:solidFill>
                <a:effectLst/>
                <a:latin typeface="-apple-system"/>
              </a:rPr>
              <a:t>Now, create your feed filters and rules. You can add a rule, add a filter, delete, and then continue when you are finished.</a:t>
            </a:r>
          </a:p>
          <a:p>
            <a:br>
              <a:rPr lang="en-US" dirty="0"/>
            </a:br>
            <a:endParaRPr lang="en-US" b="1" i="0" dirty="0">
              <a:effectLst/>
              <a:latin typeface="-apple-system"/>
            </a:endParaRPr>
          </a:p>
        </p:txBody>
      </p:sp>
      <p:pic>
        <p:nvPicPr>
          <p:cNvPr id="8194" name="Picture 2" descr="Customize feed filter rules">
            <a:extLst>
              <a:ext uri="{FF2B5EF4-FFF2-40B4-BE49-F238E27FC236}">
                <a16:creationId xmlns:a16="http://schemas.microsoft.com/office/drawing/2014/main" id="{297A1499-8BAC-BBEB-9BE0-039960318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284984"/>
            <a:ext cx="5673434" cy="2526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836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60648"/>
            <a:ext cx="8229600" cy="1252728"/>
          </a:xfrm>
        </p:spPr>
        <p:txBody>
          <a:bodyPr>
            <a:normAutofit/>
          </a:bodyPr>
          <a:lstStyle/>
          <a:p>
            <a:pPr algn="l"/>
            <a:r>
              <a:rPr lang="en-US" sz="3600" dirty="0"/>
              <a:t>Word Press Plugin- Google Product Feed Pro</a:t>
            </a:r>
            <a:endParaRPr lang="en-US" b="1" i="0" dirty="0">
              <a:solidFill>
                <a:srgbClr val="1F1F1F"/>
              </a:solidFill>
              <a:effectLst/>
              <a:latin typeface="Source Sans Pro" panose="020B0503030403020204" pitchFamily="34" charset="0"/>
            </a:endParaRPr>
          </a:p>
        </p:txBody>
      </p:sp>
      <p:sp>
        <p:nvSpPr>
          <p:cNvPr id="4" name="TextBox 3">
            <a:extLst>
              <a:ext uri="{FF2B5EF4-FFF2-40B4-BE49-F238E27FC236}">
                <a16:creationId xmlns:a16="http://schemas.microsoft.com/office/drawing/2014/main" id="{976FE9C1-5B8D-538A-D090-BA0F0916EC82}"/>
              </a:ext>
            </a:extLst>
          </p:cNvPr>
          <p:cNvSpPr txBox="1"/>
          <p:nvPr/>
        </p:nvSpPr>
        <p:spPr>
          <a:xfrm>
            <a:off x="344842" y="2195448"/>
            <a:ext cx="7683542" cy="1477328"/>
          </a:xfrm>
          <a:prstGeom prst="rect">
            <a:avLst/>
          </a:prstGeom>
          <a:noFill/>
        </p:spPr>
        <p:txBody>
          <a:bodyPr wrap="square">
            <a:spAutoFit/>
          </a:bodyPr>
          <a:lstStyle/>
          <a:p>
            <a:pPr algn="l" fontAlgn="base"/>
            <a:r>
              <a:rPr lang="en-US" b="1" i="0" dirty="0">
                <a:effectLst/>
                <a:latin typeface="-apple-system"/>
              </a:rPr>
              <a:t>Step 6</a:t>
            </a:r>
            <a:r>
              <a:rPr lang="en-US" b="1" dirty="0">
                <a:latin typeface="-apple-system"/>
              </a:rPr>
              <a:t> </a:t>
            </a:r>
            <a:r>
              <a:rPr lang="en-US" b="1" i="0" dirty="0">
                <a:effectLst/>
                <a:latin typeface="-apple-system"/>
              </a:rPr>
              <a:t>Apply Any Conversion and Google Analytics Settings</a:t>
            </a:r>
          </a:p>
          <a:p>
            <a:pPr algn="l" fontAlgn="base"/>
            <a:r>
              <a:rPr lang="en-US" b="0" i="0" dirty="0">
                <a:solidFill>
                  <a:srgbClr val="4B4F58"/>
                </a:solidFill>
                <a:effectLst/>
                <a:latin typeface="-apple-system"/>
              </a:rPr>
              <a:t>Last but not least, apply any </a:t>
            </a:r>
            <a:r>
              <a:rPr lang="en-US" b="0" i="0" u="sng" dirty="0">
                <a:solidFill>
                  <a:srgbClr val="1B6240"/>
                </a:solidFill>
                <a:effectLst/>
                <a:latin typeface="-apple-system"/>
              </a:rPr>
              <a:t>Google Analytics</a:t>
            </a:r>
            <a:r>
              <a:rPr lang="en-US" b="0" i="0" dirty="0">
                <a:solidFill>
                  <a:srgbClr val="4B4F58"/>
                </a:solidFill>
                <a:effectLst/>
                <a:latin typeface="-apple-system"/>
              </a:rPr>
              <a:t> settings and conversion settings you want on this page.</a:t>
            </a:r>
          </a:p>
          <a:p>
            <a:br>
              <a:rPr lang="en-US" dirty="0"/>
            </a:br>
            <a:endParaRPr lang="en-US" b="1" i="0" dirty="0">
              <a:effectLst/>
              <a:latin typeface="-apple-system"/>
            </a:endParaRPr>
          </a:p>
        </p:txBody>
      </p:sp>
      <p:pic>
        <p:nvPicPr>
          <p:cNvPr id="9218" name="Picture 2" descr="Analytics settings">
            <a:extLst>
              <a:ext uri="{FF2B5EF4-FFF2-40B4-BE49-F238E27FC236}">
                <a16:creationId xmlns:a16="http://schemas.microsoft.com/office/drawing/2014/main" id="{313439CF-027C-FA3A-D7CC-FD79B1401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992" y="3429000"/>
            <a:ext cx="6084168" cy="2709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765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60648"/>
            <a:ext cx="8229600" cy="1252728"/>
          </a:xfrm>
        </p:spPr>
        <p:txBody>
          <a:bodyPr>
            <a:normAutofit/>
          </a:bodyPr>
          <a:lstStyle/>
          <a:p>
            <a:pPr algn="l"/>
            <a:r>
              <a:rPr lang="en-US" sz="3600" dirty="0"/>
              <a:t>Word Press Plugin- Google Product Feed Pro</a:t>
            </a:r>
            <a:endParaRPr lang="en-US" b="1" i="0" dirty="0">
              <a:solidFill>
                <a:srgbClr val="1F1F1F"/>
              </a:solidFill>
              <a:effectLst/>
              <a:latin typeface="Source Sans Pro" panose="020B0503030403020204" pitchFamily="34" charset="0"/>
            </a:endParaRPr>
          </a:p>
        </p:txBody>
      </p:sp>
      <p:sp>
        <p:nvSpPr>
          <p:cNvPr id="5" name="TextBox 4">
            <a:extLst>
              <a:ext uri="{FF2B5EF4-FFF2-40B4-BE49-F238E27FC236}">
                <a16:creationId xmlns:a16="http://schemas.microsoft.com/office/drawing/2014/main" id="{0270BE64-66F7-D517-8F66-5D24AAEB1453}"/>
              </a:ext>
            </a:extLst>
          </p:cNvPr>
          <p:cNvSpPr txBox="1"/>
          <p:nvPr/>
        </p:nvSpPr>
        <p:spPr>
          <a:xfrm>
            <a:off x="179512" y="2505670"/>
            <a:ext cx="8229600" cy="923330"/>
          </a:xfrm>
          <a:prstGeom prst="rect">
            <a:avLst/>
          </a:prstGeom>
          <a:noFill/>
        </p:spPr>
        <p:txBody>
          <a:bodyPr wrap="square">
            <a:spAutoFit/>
          </a:bodyPr>
          <a:lstStyle/>
          <a:p>
            <a:pPr algn="l" fontAlgn="base"/>
            <a:r>
              <a:rPr lang="en-US" b="0" i="0" dirty="0">
                <a:solidFill>
                  <a:srgbClr val="4B4F58"/>
                </a:solidFill>
                <a:effectLst/>
                <a:latin typeface="-apple-system"/>
              </a:rPr>
              <a:t>Click on the “Generate Product Feed” button when finishing your options.</a:t>
            </a:r>
          </a:p>
          <a:p>
            <a:pPr algn="l" fontAlgn="base"/>
            <a:r>
              <a:rPr lang="en-US" b="0" i="0" dirty="0">
                <a:solidFill>
                  <a:srgbClr val="4B4F58"/>
                </a:solidFill>
                <a:effectLst/>
                <a:latin typeface="-apple-system"/>
              </a:rPr>
              <a:t>That’s it! You have built your first product feed using the Product Feed PRO for WooCommerce plugin.</a:t>
            </a:r>
          </a:p>
        </p:txBody>
      </p:sp>
      <p:pic>
        <p:nvPicPr>
          <p:cNvPr id="10242" name="Picture 2" descr="Manage product feeds">
            <a:extLst>
              <a:ext uri="{FF2B5EF4-FFF2-40B4-BE49-F238E27FC236}">
                <a16:creationId xmlns:a16="http://schemas.microsoft.com/office/drawing/2014/main" id="{0F3F6F71-3042-10C5-0F55-4E911909B5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4255240"/>
            <a:ext cx="5292080" cy="2356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72300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6318</TotalTime>
  <Words>1262</Words>
  <Application>Microsoft Office PowerPoint</Application>
  <PresentationFormat>On-screen Show (4:3)</PresentationFormat>
  <Paragraphs>95</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-apple-system</vt:lpstr>
      <vt:lpstr>Arial</vt:lpstr>
      <vt:lpstr>Source Sans Pro</vt:lpstr>
      <vt:lpstr>Trebuchet MS</vt:lpstr>
      <vt:lpstr>var(--cds-font-family-source-sans-pro)</vt:lpstr>
      <vt:lpstr>Wingdings 3</vt:lpstr>
      <vt:lpstr>Facet</vt:lpstr>
      <vt:lpstr>Merchant Center Account</vt:lpstr>
      <vt:lpstr>Agenda</vt:lpstr>
      <vt:lpstr>Why it is Important</vt:lpstr>
      <vt:lpstr>How to set up a Google Merchant Center account</vt:lpstr>
      <vt:lpstr>How to set up a Google Merchant Center account</vt:lpstr>
      <vt:lpstr>How to set up a Google Merchant Center account</vt:lpstr>
      <vt:lpstr>How to set up a Google Merchant Center account</vt:lpstr>
      <vt:lpstr>How to set up a Google Merchant Center account</vt:lpstr>
      <vt:lpstr>Word Press Plugin- Google Product Pro</vt:lpstr>
      <vt:lpstr>Word Press Plugin- Google Product Pro</vt:lpstr>
      <vt:lpstr>PowerPoint Presentation</vt:lpstr>
      <vt:lpstr>Word Press Plugin- Google Product Pro</vt:lpstr>
      <vt:lpstr>PowerPoint Presentation</vt:lpstr>
      <vt:lpstr>PowerPoint Presentation</vt:lpstr>
      <vt:lpstr>Word Press Plugin- Google Product Pro</vt:lpstr>
      <vt:lpstr>Word Press Plugin- Google Product Feed Pro</vt:lpstr>
      <vt:lpstr>Word Press Plugin- Google Product Feed Pro</vt:lpstr>
      <vt:lpstr>Word Press Plugin- Google Product Feed Pro</vt:lpstr>
      <vt:lpstr>Word Press Plugin- Google Product Feed Pro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Merchant Center Account</dc:title>
  <dc:creator>ADMIN</dc:creator>
  <cp:lastModifiedBy>Anurag Bholla</cp:lastModifiedBy>
  <cp:revision>7</cp:revision>
  <dcterms:created xsi:type="dcterms:W3CDTF">2023-12-08T11:39:06Z</dcterms:created>
  <dcterms:modified xsi:type="dcterms:W3CDTF">2023-12-27T11:38:28Z</dcterms:modified>
</cp:coreProperties>
</file>